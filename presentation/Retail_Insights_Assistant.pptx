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a5d635ff71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a5d635ff71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a5d635ff71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5d635ff71_2_1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a5d635ff71_2_1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a5d635ff71_2_1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5d635ff71_2_5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3a5d635ff71_2_5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a5d635ff71_2_5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5d635ff71_2_11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a5d635ff71_2_11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a5d635ff71_2_11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5d635ff71_2_16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3a5d635ff71_2_16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a5d635ff71_2_16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a5d635ff71_2_21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g3a5d635ff71_2_21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a5d635ff71_2_21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a5d635ff71_2_25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g3a5d635ff71_2_25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a5d635ff71_2_25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a5d635ff71_2_30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g3a5d635ff71_2_30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a5d635ff71_2_30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aed8a637b9_0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g3aed8a637b9_0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g3aed8a637b9_0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aed8a637b9_0_4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g3aed8a637b9_0_4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g3aed8a637b9_0_4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aed8a637b9_0_9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0" name="Google Shape;530;g3aed8a637b9_0_9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g3aed8a637b9_0_9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aed8a637b9_0_14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5" name="Google Shape;585;g3aed8a637b9_0_14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g3aed8a637b9_0_14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aed8a637b9_0_21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6" name="Google Shape;646;g3aed8a637b9_0_21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g3aed8a637b9_0_21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aed8a637b9_0_30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0" name="Google Shape;690;g3aed8a637b9_0_30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g3aed8a637b9_0_30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4C75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1722931" y="1568500"/>
            <a:ext cx="5697989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b="1" i="0" lang="en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Retail Insights Assistant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1685587" y="2320975"/>
            <a:ext cx="577267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BBE1FA"/>
                </a:solidFill>
                <a:latin typeface="Arial"/>
                <a:ea typeface="Arial"/>
                <a:cs typeface="Arial"/>
                <a:sym typeface="Arial"/>
              </a:rPr>
              <a:t>GenAI Multi-Agent System for Enterprise Analytics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2309504" y="3187601"/>
            <a:ext cx="452484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282B8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rgbClr val="3282B8"/>
                </a:solidFill>
                <a:latin typeface="Arial"/>
                <a:ea typeface="Arial"/>
                <a:cs typeface="Arial"/>
                <a:sym typeface="Arial"/>
              </a:rPr>
              <a:t>From Natural Language to Business Insights in Seconds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2651657" y="4270474"/>
            <a:ext cx="86665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BBE1FA"/>
                </a:solidFill>
                <a:latin typeface="Arial"/>
                <a:ea typeface="Arial"/>
                <a:cs typeface="Arial"/>
                <a:sym typeface="Arial"/>
              </a:rPr>
              <a:t>ROLE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2651657" y="4464100"/>
            <a:ext cx="86665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Architect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4009369" y="4270474"/>
            <a:ext cx="85633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BBE1FA"/>
                </a:solidFill>
                <a:latin typeface="Arial"/>
                <a:ea typeface="Arial"/>
                <a:cs typeface="Arial"/>
                <a:sym typeface="Arial"/>
              </a:rPr>
              <a:t>ASSIGNMENT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4009369" y="4464100"/>
            <a:ext cx="85633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" sz="1200">
                <a:solidFill>
                  <a:srgbClr val="FFFFFF"/>
                </a:solidFill>
              </a:rPr>
              <a:t>Blend 360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5354069" y="4270474"/>
            <a:ext cx="114081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BBE1FA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5354069" y="4464100"/>
            <a:ext cx="114081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December 2024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0F4C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507950" y="152400"/>
            <a:ext cx="27084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507950" y="781050"/>
            <a:ext cx="4344739" cy="958304"/>
          </a:xfrm>
          <a:prstGeom prst="roundRect">
            <a:avLst>
              <a:gd fmla="val 662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" name="Google Shape;75;p16"/>
          <p:cNvCxnSpPr/>
          <p:nvPr/>
        </p:nvCxnSpPr>
        <p:spPr>
          <a:xfrm>
            <a:off x="531763" y="781050"/>
            <a:ext cx="0" cy="958304"/>
          </a:xfrm>
          <a:prstGeom prst="straightConnector1">
            <a:avLst/>
          </a:prstGeom>
          <a:noFill/>
          <a:ln cap="flat" cmpd="sng" w="47625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16"/>
          <p:cNvSpPr/>
          <p:nvPr/>
        </p:nvSpPr>
        <p:spPr>
          <a:xfrm>
            <a:off x="733276" y="908000"/>
            <a:ext cx="4020547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rPr>
              <a:t>THE PROBLEM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733276" y="1060400"/>
            <a:ext cx="402054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2C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B262C"/>
                </a:solidFill>
                <a:latin typeface="Arial"/>
                <a:ea typeface="Arial"/>
                <a:cs typeface="Arial"/>
                <a:sym typeface="Arial"/>
              </a:rPr>
              <a:t>SQL Knowledge Gap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733276" y="1282601"/>
            <a:ext cx="4020547" cy="329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Executives need instant insights from sales data but lack SQL skills. Analysts are bottlenecked with ad-hoc requests.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507950" y="1840855"/>
            <a:ext cx="4344739" cy="958304"/>
          </a:xfrm>
          <a:prstGeom prst="roundRect">
            <a:avLst>
              <a:gd fmla="val 662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" name="Google Shape;80;p16"/>
          <p:cNvCxnSpPr/>
          <p:nvPr/>
        </p:nvCxnSpPr>
        <p:spPr>
          <a:xfrm>
            <a:off x="531763" y="1840855"/>
            <a:ext cx="0" cy="958304"/>
          </a:xfrm>
          <a:prstGeom prst="straightConnector1">
            <a:avLst/>
          </a:prstGeom>
          <a:noFill/>
          <a:ln cap="flat" cmpd="sng" w="47625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" name="Google Shape;81;p16"/>
          <p:cNvSpPr/>
          <p:nvPr/>
        </p:nvSpPr>
        <p:spPr>
          <a:xfrm>
            <a:off x="733276" y="1967805"/>
            <a:ext cx="4020547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rPr>
              <a:t>OUR SOLUTION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733276" y="2120205"/>
            <a:ext cx="402054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2C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B262C"/>
                </a:solidFill>
                <a:latin typeface="Arial"/>
                <a:ea typeface="Arial"/>
                <a:cs typeface="Arial"/>
                <a:sym typeface="Arial"/>
              </a:rPr>
              <a:t> GenAI Multi-Agent System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733276" y="2342406"/>
            <a:ext cx="4020547" cy="329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Natural language queries converted to SQL, executed, and returned as </a:t>
            </a:r>
            <a:r>
              <a:rPr b="1" i="0" lang="en" sz="1000" u="none" cap="none" strike="noStrike">
                <a:solidFill>
                  <a:srgbClr val="0F4C75"/>
                </a:solidFill>
                <a:latin typeface="Arial"/>
                <a:ea typeface="Arial"/>
                <a:cs typeface="Arial"/>
                <a:sym typeface="Arial"/>
              </a:rPr>
              <a:t>business insights with context</a:t>
            </a:r>
            <a:r>
              <a:rPr b="0" i="0" lang="en" sz="10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507950" y="2900660"/>
            <a:ext cx="4344739" cy="958304"/>
          </a:xfrm>
          <a:prstGeom prst="roundRect">
            <a:avLst>
              <a:gd fmla="val 662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" name="Google Shape;85;p16"/>
          <p:cNvCxnSpPr/>
          <p:nvPr/>
        </p:nvCxnSpPr>
        <p:spPr>
          <a:xfrm>
            <a:off x="531763" y="2900660"/>
            <a:ext cx="0" cy="958304"/>
          </a:xfrm>
          <a:prstGeom prst="straightConnector1">
            <a:avLst/>
          </a:prstGeom>
          <a:noFill/>
          <a:ln cap="flat" cmpd="sng" w="47625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16"/>
          <p:cNvSpPr/>
          <p:nvPr/>
        </p:nvSpPr>
        <p:spPr>
          <a:xfrm>
            <a:off x="733276" y="3027611"/>
            <a:ext cx="4020547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rPr>
              <a:t>BUSINESS IMPACT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733276" y="3180011"/>
            <a:ext cx="402054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2C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B262C"/>
                </a:solidFill>
                <a:latin typeface="Arial"/>
                <a:ea typeface="Arial"/>
                <a:cs typeface="Arial"/>
                <a:sym typeface="Arial"/>
              </a:rPr>
              <a:t>Self-Service Analytics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733276" y="3402211"/>
            <a:ext cx="4020547" cy="329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Democratize data access. Any user can query sales performance without technical knowledge.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5081290" y="781050"/>
            <a:ext cx="3554760" cy="958304"/>
          </a:xfrm>
          <a:prstGeom prst="roundRect">
            <a:avLst>
              <a:gd fmla="val 662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16"/>
          <p:cNvCxnSpPr/>
          <p:nvPr/>
        </p:nvCxnSpPr>
        <p:spPr>
          <a:xfrm>
            <a:off x="5105102" y="781050"/>
            <a:ext cx="0" cy="958304"/>
          </a:xfrm>
          <a:prstGeom prst="straightConnector1">
            <a:avLst/>
          </a:prstGeom>
          <a:noFill/>
          <a:ln cap="flat" cmpd="sng" w="47625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" name="Google Shape;91;p16"/>
          <p:cNvSpPr/>
          <p:nvPr/>
        </p:nvSpPr>
        <p:spPr>
          <a:xfrm>
            <a:off x="5306616" y="908000"/>
            <a:ext cx="321476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rPr>
              <a:t>SCALE READY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5306616" y="1060400"/>
            <a:ext cx="32147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2C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B262C"/>
                </a:solidFill>
                <a:latin typeface="Arial"/>
                <a:ea typeface="Arial"/>
                <a:cs typeface="Arial"/>
                <a:sym typeface="Arial"/>
              </a:rPr>
              <a:t>Demo to Enterprise Path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5306616" y="1282601"/>
            <a:ext cx="3214768" cy="329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Demo runs on 128K rows with DuckDB. Architecture designed for </a:t>
            </a:r>
            <a:r>
              <a:rPr b="1" i="0" lang="en" sz="1000" u="none" cap="none" strike="noStrike">
                <a:solidFill>
                  <a:srgbClr val="0F4C75"/>
                </a:solidFill>
                <a:latin typeface="Arial"/>
                <a:ea typeface="Arial"/>
                <a:cs typeface="Arial"/>
                <a:sym typeface="Arial"/>
              </a:rPr>
              <a:t>100GB+ with BigQuery</a:t>
            </a:r>
            <a:r>
              <a:rPr b="0" i="0" lang="en" sz="10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5081290" y="1942356"/>
            <a:ext cx="1083320" cy="593527"/>
          </a:xfrm>
          <a:prstGeom prst="roundRect">
            <a:avLst>
              <a:gd fmla="val 8559" name="adj"/>
            </a:avLst>
          </a:prstGeom>
          <a:solidFill>
            <a:srgbClr val="0F4C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5173987" y="2043857"/>
            <a:ext cx="897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5173987" y="2320082"/>
            <a:ext cx="89792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BBE1FA"/>
                </a:solidFill>
                <a:latin typeface="Arial"/>
                <a:ea typeface="Arial"/>
                <a:cs typeface="Arial"/>
                <a:sym typeface="Arial"/>
              </a:rPr>
              <a:t>AGENTS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6317010" y="1942356"/>
            <a:ext cx="1083320" cy="593527"/>
          </a:xfrm>
          <a:prstGeom prst="roundRect">
            <a:avLst>
              <a:gd fmla="val 8559" name="adj"/>
            </a:avLst>
          </a:prstGeom>
          <a:solidFill>
            <a:srgbClr val="0F4C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6409707" y="2043857"/>
            <a:ext cx="897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&lt;5s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6409707" y="2320082"/>
            <a:ext cx="89792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BBE1FA"/>
                </a:solidFill>
                <a:latin typeface="Arial"/>
                <a:ea typeface="Arial"/>
                <a:cs typeface="Arial"/>
                <a:sym typeface="Arial"/>
              </a:rPr>
              <a:t>LATENCY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7552730" y="1942356"/>
            <a:ext cx="1083320" cy="593527"/>
          </a:xfrm>
          <a:prstGeom prst="roundRect">
            <a:avLst>
              <a:gd fmla="val 8559" name="adj"/>
            </a:avLst>
          </a:prstGeom>
          <a:solidFill>
            <a:srgbClr val="0F4C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7645427" y="2043857"/>
            <a:ext cx="897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128K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7645427" y="2320082"/>
            <a:ext cx="89792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BBE1FA"/>
                </a:solidFill>
                <a:latin typeface="Arial"/>
                <a:ea typeface="Arial"/>
                <a:cs typeface="Arial"/>
                <a:sym typeface="Arial"/>
              </a:rPr>
              <a:t>ROWS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5081290" y="2738884"/>
            <a:ext cx="1701254" cy="593527"/>
          </a:xfrm>
          <a:prstGeom prst="roundRect">
            <a:avLst>
              <a:gd fmla="val 8559" name="adj"/>
            </a:avLst>
          </a:prstGeom>
          <a:solidFill>
            <a:srgbClr val="0F4C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5167808" y="2840385"/>
            <a:ext cx="152821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100GB+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5167808" y="3116610"/>
            <a:ext cx="152821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BBE1FA"/>
                </a:solidFill>
                <a:latin typeface="Arial"/>
                <a:ea typeface="Arial"/>
                <a:cs typeface="Arial"/>
                <a:sym typeface="Arial"/>
              </a:rPr>
              <a:t>SCALE TARGET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6934944" y="2738884"/>
            <a:ext cx="1701254" cy="593527"/>
          </a:xfrm>
          <a:prstGeom prst="roundRect">
            <a:avLst>
              <a:gd fmla="val 8559" name="adj"/>
            </a:avLst>
          </a:prstGeom>
          <a:solidFill>
            <a:srgbClr val="0F4C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7021462" y="2840385"/>
            <a:ext cx="152821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7021462" y="3116610"/>
            <a:ext cx="152821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BBE1FA"/>
                </a:solidFill>
                <a:latin typeface="Arial"/>
                <a:ea typeface="Arial"/>
                <a:cs typeface="Arial"/>
                <a:sym typeface="Arial"/>
              </a:rPr>
              <a:t>LLMs USED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0F4C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507950" y="152400"/>
            <a:ext cx="829066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System Architecture Overview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381006" y="781050"/>
            <a:ext cx="5283000" cy="610800"/>
          </a:xfrm>
          <a:prstGeom prst="roundRect">
            <a:avLst>
              <a:gd fmla="val 6979" name="adj"/>
            </a:avLst>
          </a:prstGeom>
          <a:solidFill>
            <a:srgbClr val="0F4C75"/>
          </a:solidFill>
          <a:ln cap="flat" cmpd="sng" w="9525">
            <a:solidFill>
              <a:srgbClr val="0F4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441421" y="876985"/>
            <a:ext cx="5162400" cy="1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</a:rPr>
              <a:t>PRESENTATION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441421" y="1011894"/>
            <a:ext cx="51624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</a:rPr>
              <a:t>User Interface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441421" y="1189441"/>
            <a:ext cx="5162400" cy="1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i="0" lang="en" sz="1000" u="none" cap="none" strike="noStrike">
                <a:solidFill>
                  <a:srgbClr val="FFFFFF"/>
                </a:solidFill>
              </a:rPr>
              <a:t>ADK Web 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328175" y="1448765"/>
            <a:ext cx="5388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282B8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3282B8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381006" y="1665452"/>
            <a:ext cx="2127300" cy="610800"/>
          </a:xfrm>
          <a:prstGeom prst="roundRect">
            <a:avLst>
              <a:gd fmla="val 6979" name="adj"/>
            </a:avLst>
          </a:prstGeom>
          <a:solidFill>
            <a:srgbClr val="E74C3C"/>
          </a:solidFill>
          <a:ln cap="flat" cmpd="sng" w="9525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472980" y="1761387"/>
            <a:ext cx="1943400" cy="1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SECURITY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472980" y="1896296"/>
            <a:ext cx="19434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</a:rPr>
              <a:t>Guardrails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472980" y="2073843"/>
            <a:ext cx="1943400" cy="1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" sz="1000">
                <a:solidFill>
                  <a:srgbClr val="FFFFFF"/>
                </a:solidFill>
              </a:rPr>
              <a:t>Nvidia</a:t>
            </a:r>
            <a:r>
              <a:rPr lang="en" sz="1000">
                <a:solidFill>
                  <a:srgbClr val="FFFFFF"/>
                </a:solidFill>
              </a:rPr>
              <a:t> </a:t>
            </a:r>
            <a:r>
              <a:rPr i="0" lang="en" sz="1000" u="none" cap="none" strike="noStrike">
                <a:solidFill>
                  <a:srgbClr val="FFFFFF"/>
                </a:solidFill>
              </a:rPr>
              <a:t>NeMo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2584403" y="1665452"/>
            <a:ext cx="3079800" cy="610800"/>
          </a:xfrm>
          <a:prstGeom prst="roundRect">
            <a:avLst>
              <a:gd fmla="val 6979" name="adj"/>
            </a:avLst>
          </a:prstGeom>
          <a:solidFill>
            <a:srgbClr val="3282B8"/>
          </a:solidFill>
          <a:ln cap="flat" cmpd="sng" w="9525">
            <a:solidFill>
              <a:srgbClr val="3282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2666853" y="1761387"/>
            <a:ext cx="2914800" cy="1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2666853" y="1896296"/>
            <a:ext cx="29148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</a:rPr>
              <a:t>Root Agent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2666853" y="2073843"/>
            <a:ext cx="2914800" cy="1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i="0" lang="en" sz="1000" u="none" cap="none" strike="noStrike">
                <a:solidFill>
                  <a:srgbClr val="FFFFFF"/>
                </a:solidFill>
              </a:rPr>
              <a:t>ADK + Gemini 2.5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328175" y="2333167"/>
            <a:ext cx="5388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282B8"/>
              </a:buClr>
              <a:buSzPts val="1000"/>
              <a:buFont typeface="Arial"/>
              <a:buNone/>
            </a:pPr>
            <a:r>
              <a:rPr i="0" lang="en" sz="1000" u="none" cap="none" strike="noStrike">
                <a:solidFill>
                  <a:srgbClr val="3282B8"/>
                </a:solidFill>
              </a:rPr>
              <a:t>|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381006" y="2549855"/>
            <a:ext cx="1710300" cy="610800"/>
          </a:xfrm>
          <a:prstGeom prst="roundRect">
            <a:avLst>
              <a:gd fmla="val 6979" name="adj"/>
            </a:avLst>
          </a:prstGeom>
          <a:solidFill>
            <a:srgbClr val="00C49A"/>
          </a:solidFill>
          <a:ln cap="flat" cmpd="sng" w="9525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477150" y="2645790"/>
            <a:ext cx="1518000" cy="1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</a:rPr>
              <a:t>AGENT 1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477150" y="2780698"/>
            <a:ext cx="15180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</a:rPr>
              <a:t>Query(NL-&gt;SQL)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477150" y="2958245"/>
            <a:ext cx="1518000" cy="1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" sz="1000">
                <a:solidFill>
                  <a:srgbClr val="FFFFFF"/>
                </a:solidFill>
              </a:rPr>
              <a:t>OpenAI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2167387" y="2549855"/>
            <a:ext cx="1710300" cy="610800"/>
          </a:xfrm>
          <a:prstGeom prst="roundRect">
            <a:avLst>
              <a:gd fmla="val 6979" name="adj"/>
            </a:avLst>
          </a:prstGeom>
          <a:solidFill>
            <a:srgbClr val="00C49A"/>
          </a:solidFill>
          <a:ln cap="flat" cmpd="sng" w="9525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2263531" y="2645790"/>
            <a:ext cx="1518000" cy="1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</a:rPr>
              <a:t>AGENT 2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2263531" y="2780698"/>
            <a:ext cx="15180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</a:rPr>
              <a:t>Extract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2263531" y="2958245"/>
            <a:ext cx="1518000" cy="1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i="0" lang="en" sz="1000" u="none" cap="none" strike="noStrike">
                <a:solidFill>
                  <a:srgbClr val="FFFFFF"/>
                </a:solidFill>
              </a:rPr>
              <a:t>DuckDB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3953769" y="2549855"/>
            <a:ext cx="1710300" cy="610800"/>
          </a:xfrm>
          <a:prstGeom prst="roundRect">
            <a:avLst>
              <a:gd fmla="val 6979" name="adj"/>
            </a:avLst>
          </a:prstGeom>
          <a:solidFill>
            <a:srgbClr val="00C49A"/>
          </a:solidFill>
          <a:ln cap="flat" cmpd="sng" w="9525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4049913" y="2645790"/>
            <a:ext cx="1518000" cy="1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</a:rPr>
              <a:t>AGENT 3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4049913" y="2780698"/>
            <a:ext cx="15180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</a:rPr>
              <a:t>Validate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4049913" y="2958245"/>
            <a:ext cx="1518000" cy="1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i="0" lang="en" sz="1000" u="none" cap="none" strike="noStrike">
                <a:solidFill>
                  <a:srgbClr val="FFFFFF"/>
                </a:solidFill>
              </a:rPr>
              <a:t>Gemini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328175" y="3217570"/>
            <a:ext cx="5388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282B8"/>
              </a:buClr>
              <a:buSzPts val="1000"/>
              <a:buFont typeface="Arial"/>
              <a:buNone/>
            </a:pPr>
            <a:r>
              <a:rPr i="0" lang="en" sz="1000" u="none" cap="none" strike="noStrike">
                <a:solidFill>
                  <a:srgbClr val="3282B8"/>
                </a:solidFill>
              </a:rPr>
              <a:t>|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381006" y="3434256"/>
            <a:ext cx="2603400" cy="476100"/>
          </a:xfrm>
          <a:prstGeom prst="roundRect">
            <a:avLst>
              <a:gd fmla="val 8957" name="adj"/>
            </a:avLst>
          </a:prstGeom>
          <a:solidFill>
            <a:srgbClr val="F39C12"/>
          </a:solidFill>
          <a:ln cap="flat" cmpd="sng" w="9525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468218" y="3530191"/>
            <a:ext cx="2429100" cy="1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</a:rPr>
              <a:t>SQL GEN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468218" y="3665100"/>
            <a:ext cx="24291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</a:rPr>
              <a:t>PandasAI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3060652" y="3434256"/>
            <a:ext cx="2603400" cy="476100"/>
          </a:xfrm>
          <a:prstGeom prst="roundRect">
            <a:avLst>
              <a:gd fmla="val 8957" name="adj"/>
            </a:avLst>
          </a:prstGeom>
          <a:solidFill>
            <a:srgbClr val="F39C12"/>
          </a:solidFill>
          <a:ln cap="flat" cmpd="sng" w="9525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3147864" y="3530191"/>
            <a:ext cx="2429100" cy="1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</a:rPr>
              <a:t>QUERY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3147864" y="3665100"/>
            <a:ext cx="24291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</a:rPr>
              <a:t>DuckDB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328175" y="3967063"/>
            <a:ext cx="5388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282B8"/>
              </a:buClr>
              <a:buSzPts val="1000"/>
              <a:buFont typeface="Arial"/>
              <a:buNone/>
            </a:pPr>
            <a:r>
              <a:rPr i="0" lang="en" sz="1000" u="none" cap="none" strike="noStrike">
                <a:solidFill>
                  <a:srgbClr val="3282B8"/>
                </a:solidFill>
              </a:rPr>
              <a:t>|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381006" y="4183750"/>
            <a:ext cx="5283000" cy="476100"/>
          </a:xfrm>
          <a:prstGeom prst="roundRect">
            <a:avLst>
              <a:gd fmla="val 8957" name="adj"/>
            </a:avLst>
          </a:prstGeom>
          <a:solidFill>
            <a:srgbClr val="1B262C"/>
          </a:solidFill>
          <a:ln cap="flat" cmpd="sng" w="9525">
            <a:solidFill>
              <a:srgbClr val="1B26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441421" y="4279685"/>
            <a:ext cx="5162400" cy="1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</a:rPr>
              <a:t>DATA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441421" y="4414593"/>
            <a:ext cx="51624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</a:rPr>
              <a:t>Amazon Sales (128K rows)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5918000" y="781050"/>
            <a:ext cx="2844900" cy="1347600"/>
          </a:xfrm>
          <a:prstGeom prst="roundRect">
            <a:avLst>
              <a:gd fmla="val 421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154" name="Google Shape;154;p17"/>
          <p:cNvCxnSpPr/>
          <p:nvPr/>
        </p:nvCxnSpPr>
        <p:spPr>
          <a:xfrm>
            <a:off x="5937050" y="781050"/>
            <a:ext cx="0" cy="1347600"/>
          </a:xfrm>
          <a:prstGeom prst="straightConnector1">
            <a:avLst/>
          </a:prstGeom>
          <a:noFill/>
          <a:ln cap="flat" cmpd="sng" w="38100">
            <a:solidFill>
              <a:srgbClr val="0F4C7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17"/>
          <p:cNvSpPr/>
          <p:nvPr/>
        </p:nvSpPr>
        <p:spPr>
          <a:xfrm>
            <a:off x="6108500" y="923125"/>
            <a:ext cx="25521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1000"/>
              <a:buFont typeface="Arial"/>
              <a:buNone/>
            </a:pPr>
            <a:r>
              <a:rPr b="1" i="0" lang="en" sz="1100" u="none" cap="none" strike="noStrike">
                <a:solidFill>
                  <a:srgbClr val="0F4C75"/>
                </a:solidFill>
              </a:rPr>
              <a:t>Key Design Decisions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6108500" y="1229377"/>
            <a:ext cx="2552100" cy="1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800"/>
              <a:buFont typeface="Arial"/>
              <a:buNone/>
            </a:pPr>
            <a:r>
              <a:rPr i="0" lang="en" sz="1100" u="none" cap="none" strike="noStrike">
                <a:solidFill>
                  <a:srgbClr val="00C49A"/>
                </a:solidFill>
              </a:rPr>
              <a:t>+</a:t>
            </a:r>
            <a:r>
              <a:rPr i="0" lang="en" sz="1100" u="none" cap="none" strike="noStrike">
                <a:solidFill>
                  <a:srgbClr val="495057"/>
                </a:solidFill>
              </a:rPr>
              <a:t>Multi-agent for separation of concerns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6108500" y="1484864"/>
            <a:ext cx="2552100" cy="1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800"/>
              <a:buFont typeface="Arial"/>
              <a:buNone/>
            </a:pPr>
            <a:r>
              <a:rPr i="0" lang="en" sz="1100" u="none" cap="none" strike="noStrike">
                <a:solidFill>
                  <a:srgbClr val="00C49A"/>
                </a:solidFill>
              </a:rPr>
              <a:t>+</a:t>
            </a:r>
            <a:r>
              <a:rPr i="0" lang="en" sz="1100" u="none" cap="none" strike="noStrike">
                <a:solidFill>
                  <a:srgbClr val="495057"/>
                </a:solidFill>
              </a:rPr>
              <a:t>ADK for agent orchestration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6108500" y="1740351"/>
            <a:ext cx="2552100" cy="1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800"/>
              <a:buFont typeface="Arial"/>
              <a:buNone/>
            </a:pPr>
            <a:r>
              <a:rPr i="0" lang="en" sz="1100" u="none" cap="none" strike="noStrike">
                <a:solidFill>
                  <a:srgbClr val="00C49A"/>
                </a:solidFill>
              </a:rPr>
              <a:t>+</a:t>
            </a:r>
            <a:r>
              <a:rPr i="0" lang="en" sz="1100" u="none" cap="none" strike="noStrike">
                <a:solidFill>
                  <a:srgbClr val="495057"/>
                </a:solidFill>
              </a:rPr>
              <a:t>Model routing: Gemini-2.5 + GPT-4o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6108500" y="1995838"/>
            <a:ext cx="2552100" cy="1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800"/>
              <a:buFont typeface="Arial"/>
              <a:buNone/>
            </a:pPr>
            <a:r>
              <a:rPr i="0" lang="en" sz="1100" u="none" cap="none" strike="noStrike">
                <a:solidFill>
                  <a:srgbClr val="00C49A"/>
                </a:solidFill>
              </a:rPr>
              <a:t>+</a:t>
            </a:r>
            <a:r>
              <a:rPr i="0" lang="en" sz="1100" u="none" cap="none" strike="noStrike">
                <a:solidFill>
                  <a:srgbClr val="495057"/>
                </a:solidFill>
              </a:rPr>
              <a:t>DuckDB for sub-second OLAP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5917975" y="2628460"/>
            <a:ext cx="2844900" cy="1552200"/>
          </a:xfrm>
          <a:prstGeom prst="roundRect">
            <a:avLst>
              <a:gd fmla="val 366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161" name="Google Shape;161;p17"/>
          <p:cNvCxnSpPr/>
          <p:nvPr/>
        </p:nvCxnSpPr>
        <p:spPr>
          <a:xfrm>
            <a:off x="5937025" y="2628460"/>
            <a:ext cx="0" cy="1552200"/>
          </a:xfrm>
          <a:prstGeom prst="straightConnector1">
            <a:avLst/>
          </a:prstGeom>
          <a:noFill/>
          <a:ln cap="flat" cmpd="sng" w="38100">
            <a:solidFill>
              <a:srgbClr val="0F4C7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" name="Google Shape;162;p17"/>
          <p:cNvSpPr/>
          <p:nvPr/>
        </p:nvSpPr>
        <p:spPr>
          <a:xfrm>
            <a:off x="6108475" y="2770532"/>
            <a:ext cx="25521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1000"/>
              <a:buFont typeface="Arial"/>
              <a:buNone/>
            </a:pPr>
            <a:r>
              <a:rPr b="1" i="0" lang="en" sz="1100" u="none" cap="none" strike="noStrike">
                <a:solidFill>
                  <a:srgbClr val="0F4C75"/>
                </a:solidFill>
              </a:rPr>
              <a:t>Data Flow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6108475" y="3015699"/>
            <a:ext cx="25521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i="0" lang="en" sz="1100" u="none" cap="none" strike="noStrike">
                <a:solidFill>
                  <a:srgbClr val="495057"/>
                </a:solidFill>
              </a:rPr>
              <a:t>1. User asks natural language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6108475" y="3220228"/>
            <a:ext cx="25521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i="0" lang="en" sz="1100" u="none" cap="none" strike="noStrike">
                <a:solidFill>
                  <a:srgbClr val="495057"/>
                </a:solidFill>
              </a:rPr>
              <a:t>2. Guardrails validate input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6108475" y="3424756"/>
            <a:ext cx="25521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i="0" lang="en" sz="1100" u="none" cap="none" strike="noStrike">
                <a:solidFill>
                  <a:srgbClr val="495057"/>
                </a:solidFill>
              </a:rPr>
              <a:t>3. Query agent generates SQL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6108475" y="3629285"/>
            <a:ext cx="25521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i="0" lang="en" sz="1100" u="none" cap="none" strike="noStrike">
                <a:solidFill>
                  <a:srgbClr val="495057"/>
                </a:solidFill>
              </a:rPr>
              <a:t>4. DuckDB executes query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6108475" y="3833812"/>
            <a:ext cx="25521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i="0" lang="en" sz="1100" u="none" cap="none" strike="noStrike">
                <a:solidFill>
                  <a:srgbClr val="495057"/>
                </a:solidFill>
              </a:rPr>
              <a:t>5. Response formatted with context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/>
          <p:nvPr/>
        </p:nvSpPr>
        <p:spPr>
          <a:xfrm>
            <a:off x="282500" y="730325"/>
            <a:ext cx="4989300" cy="4017300"/>
          </a:xfrm>
          <a:prstGeom prst="roundRect">
            <a:avLst>
              <a:gd fmla="val 1964" name="adj"/>
            </a:avLst>
          </a:prstGeom>
          <a:solidFill>
            <a:srgbClr val="FFFFFF"/>
          </a:solidFill>
          <a:ln cap="flat" cmpd="sng" w="9525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0F4C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507950" y="152400"/>
            <a:ext cx="829066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Multi-Agent Design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606326" y="968276"/>
            <a:ext cx="4582224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F4C75"/>
                </a:solidFill>
                <a:latin typeface="Arial"/>
                <a:ea typeface="Arial"/>
                <a:cs typeface="Arial"/>
                <a:sym typeface="Arial"/>
              </a:rPr>
              <a:t>Agent Hierarchy &amp; 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606326" y="1247626"/>
            <a:ext cx="4492377" cy="485477"/>
          </a:xfrm>
          <a:prstGeom prst="roundRect">
            <a:avLst>
              <a:gd fmla="val 10464" name="adj"/>
            </a:avLst>
          </a:prstGeom>
          <a:solidFill>
            <a:srgbClr val="3282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733276" y="1349127"/>
            <a:ext cx="4323246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Orchestrator Agent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733276" y="1517303"/>
            <a:ext cx="432324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Gemini 2.5 Pro - Routing + Classification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914650" y="2104738"/>
            <a:ext cx="1213800" cy="485400"/>
          </a:xfrm>
          <a:prstGeom prst="roundRect">
            <a:avLst>
              <a:gd fmla="val 10464" name="adj"/>
            </a:avLst>
          </a:prstGeom>
          <a:solidFill>
            <a:srgbClr val="E74C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980532" y="2206237"/>
            <a:ext cx="1063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1000190" y="2374412"/>
            <a:ext cx="1063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NeMo + OpenAI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2206024" y="2213967"/>
            <a:ext cx="909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82B8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282B8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2374500" y="2104750"/>
            <a:ext cx="2312700" cy="467100"/>
          </a:xfrm>
          <a:prstGeom prst="roundRect">
            <a:avLst>
              <a:gd fmla="val 14687" name="adj"/>
            </a:avLst>
          </a:prstGeom>
          <a:solidFill>
            <a:srgbClr val="0F4C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2545729" y="2238284"/>
            <a:ext cx="20793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b="1" lang="en" sz="1100">
                <a:solidFill>
                  <a:srgbClr val="FFFFFF"/>
                </a:solidFill>
              </a:rPr>
              <a:t>&amp;</a:t>
            </a: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en" sz="1100">
                <a:solidFill>
                  <a:srgbClr val="FFFFFF"/>
                </a:solidFill>
              </a:rPr>
              <a:t>Agent</a:t>
            </a: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1" lang="en" sz="1100">
                <a:solidFill>
                  <a:srgbClr val="FFFFFF"/>
                </a:solidFill>
              </a:rPr>
              <a:t>Sequential Agent</a:t>
            </a: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2074052" y="3063281"/>
            <a:ext cx="40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82B8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1464601" y="3310931"/>
            <a:ext cx="909900" cy="628500"/>
          </a:xfrm>
          <a:prstGeom prst="roundRect">
            <a:avLst>
              <a:gd fmla="val 8085" name="adj"/>
            </a:avLst>
          </a:prstGeom>
          <a:solidFill>
            <a:srgbClr val="00C4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1591552" y="3412432"/>
            <a:ext cx="6693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Query Resolution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1591552" y="3723482"/>
            <a:ext cx="6693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NL to SQL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2476037" y="3539382"/>
            <a:ext cx="909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82B8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282B8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2666537" y="3310931"/>
            <a:ext cx="874800" cy="628500"/>
          </a:xfrm>
          <a:prstGeom prst="roundRect">
            <a:avLst>
              <a:gd fmla="val 8085" name="adj"/>
            </a:avLst>
          </a:prstGeom>
          <a:solidFill>
            <a:srgbClr val="9B59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2793488" y="3412432"/>
            <a:ext cx="6333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Extraction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2793488" y="3723482"/>
            <a:ext cx="6333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SQL Exec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3642850" y="3539382"/>
            <a:ext cx="909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82B8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282B8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3833350" y="3382368"/>
            <a:ext cx="853800" cy="485400"/>
          </a:xfrm>
          <a:prstGeom prst="roundRect">
            <a:avLst>
              <a:gd fmla="val 10464" name="adj"/>
            </a:avLst>
          </a:prstGeom>
          <a:solidFill>
            <a:srgbClr val="F39C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3960300" y="3483869"/>
            <a:ext cx="6117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Validation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3960300" y="3652045"/>
            <a:ext cx="6117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Format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5489228" y="806351"/>
            <a:ext cx="3210371" cy="1816001"/>
          </a:xfrm>
          <a:prstGeom prst="roundRect">
            <a:avLst>
              <a:gd fmla="val 4196" name="adj"/>
            </a:avLst>
          </a:prstGeom>
          <a:solidFill>
            <a:srgbClr val="FFFFFF"/>
          </a:solidFill>
          <a:ln cap="flat" cmpd="sng" w="9525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5651153" y="968276"/>
            <a:ext cx="294425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F4C75"/>
                </a:solidFill>
                <a:latin typeface="Arial"/>
                <a:ea typeface="Arial"/>
                <a:cs typeface="Arial"/>
                <a:sym typeface="Arial"/>
              </a:rPr>
              <a:t>Design Decisions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5651153" y="1222177"/>
            <a:ext cx="161930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rPr>
              <a:t>Why </a:t>
            </a:r>
            <a:r>
              <a:rPr lang="en" sz="900">
                <a:solidFill>
                  <a:srgbClr val="6C757D"/>
                </a:solidFill>
              </a:rPr>
              <a:t>Sequential Agent</a:t>
            </a:r>
            <a:r>
              <a:rPr b="0" i="0" lang="en" sz="900" u="none" cap="none" strike="noStrike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7238702" y="1222177"/>
            <a:ext cx="132495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2C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B262C"/>
                </a:solidFill>
                <a:latin typeface="Arial"/>
                <a:ea typeface="Arial"/>
                <a:cs typeface="Arial"/>
                <a:sym typeface="Arial"/>
              </a:rPr>
              <a:t>Data dependency between steps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5651153" y="1565077"/>
            <a:ext cx="161930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rPr>
              <a:t>Why separate SQL gen/exec?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7238702" y="1565077"/>
            <a:ext cx="132495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2C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B262C"/>
                </a:solidFill>
                <a:latin typeface="Arial"/>
                <a:ea typeface="Arial"/>
                <a:cs typeface="Arial"/>
                <a:sym typeface="Arial"/>
              </a:rPr>
              <a:t>Audit trail + retry logic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5651153" y="1774627"/>
            <a:ext cx="161930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rPr>
              <a:t>Why Gemini for orchestration?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7238702" y="1774627"/>
            <a:ext cx="132495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2C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B262C"/>
                </a:solidFill>
                <a:latin typeface="Arial"/>
                <a:ea typeface="Arial"/>
                <a:cs typeface="Arial"/>
                <a:sym typeface="Arial"/>
              </a:rPr>
              <a:t>Best reasoning at lower cost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5651153" y="2117527"/>
            <a:ext cx="161930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rPr>
              <a:t>Why OpenAI for SQL gen?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7238702" y="2117527"/>
            <a:ext cx="132495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2C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B262C"/>
                </a:solidFill>
                <a:latin typeface="Arial"/>
                <a:ea typeface="Arial"/>
                <a:cs typeface="Arial"/>
                <a:sym typeface="Arial"/>
              </a:rPr>
              <a:t>Pandas AI native integration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5489228" y="2749302"/>
            <a:ext cx="3210371" cy="1816001"/>
          </a:xfrm>
          <a:prstGeom prst="roundRect">
            <a:avLst>
              <a:gd fmla="val 4196" name="adj"/>
            </a:avLst>
          </a:prstGeom>
          <a:solidFill>
            <a:srgbClr val="FFFFFF"/>
          </a:solidFill>
          <a:ln cap="flat" cmpd="sng" w="9525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5651153" y="2911227"/>
            <a:ext cx="294425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F4C75"/>
                </a:solidFill>
                <a:latin typeface="Arial"/>
                <a:ea typeface="Arial"/>
                <a:cs typeface="Arial"/>
                <a:sym typeface="Arial"/>
              </a:rPr>
              <a:t>Agent Responsibilities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5651153" y="3165128"/>
            <a:ext cx="161930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rPr>
              <a:t>Orchestrator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7238702" y="3165128"/>
            <a:ext cx="132495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2C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B262C"/>
                </a:solidFill>
                <a:latin typeface="Arial"/>
                <a:ea typeface="Arial"/>
                <a:cs typeface="Arial"/>
                <a:sym typeface="Arial"/>
              </a:rPr>
              <a:t>Classify, route, compose response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5651153" y="3508028"/>
            <a:ext cx="161930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rPr>
              <a:t>Query Resolution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7238702" y="3508028"/>
            <a:ext cx="132495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2C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B262C"/>
                </a:solidFill>
                <a:latin typeface="Arial"/>
                <a:ea typeface="Arial"/>
                <a:cs typeface="Arial"/>
                <a:sym typeface="Arial"/>
              </a:rPr>
              <a:t>NL to valid SQL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5651153" y="3717578"/>
            <a:ext cx="161930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rPr>
              <a:t>Data Extraction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7238702" y="3717578"/>
            <a:ext cx="132495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2C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B262C"/>
                </a:solidFill>
                <a:latin typeface="Arial"/>
                <a:ea typeface="Arial"/>
                <a:cs typeface="Arial"/>
                <a:sym typeface="Arial"/>
              </a:rPr>
              <a:t>Execute SQL, return rows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/>
          <p:nvPr/>
        </p:nvSpPr>
        <p:spPr>
          <a:xfrm>
            <a:off x="5651153" y="4060478"/>
            <a:ext cx="161930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rPr>
              <a:t>Response Validation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7238702" y="4060478"/>
            <a:ext cx="132495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2C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B262C"/>
                </a:solidFill>
                <a:latin typeface="Arial"/>
                <a:ea typeface="Arial"/>
                <a:cs typeface="Arial"/>
                <a:sym typeface="Arial"/>
              </a:rPr>
              <a:t>Format + business insights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1176725" y="3196325"/>
            <a:ext cx="3688800" cy="889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282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9" name="Google Shape;219;p18"/>
          <p:cNvCxnSpPr/>
          <p:nvPr/>
        </p:nvCxnSpPr>
        <p:spPr>
          <a:xfrm>
            <a:off x="3358300" y="2578725"/>
            <a:ext cx="6300" cy="535500"/>
          </a:xfrm>
          <a:prstGeom prst="straightConnector1">
            <a:avLst/>
          </a:prstGeom>
          <a:noFill/>
          <a:ln cap="flat" cmpd="sng" w="19050">
            <a:solidFill>
              <a:srgbClr val="3282B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18"/>
          <p:cNvCxnSpPr>
            <a:stCxn id="218" idx="1"/>
            <a:endCxn id="177" idx="1"/>
          </p:cNvCxnSpPr>
          <p:nvPr/>
        </p:nvCxnSpPr>
        <p:spPr>
          <a:xfrm rot="10800000">
            <a:off x="606425" y="1490225"/>
            <a:ext cx="570300" cy="2151000"/>
          </a:xfrm>
          <a:prstGeom prst="bentConnector3">
            <a:avLst>
              <a:gd fmla="val 141772" name="adj1"/>
            </a:avLst>
          </a:prstGeom>
          <a:noFill/>
          <a:ln cap="flat" cmpd="sng" w="28575">
            <a:solidFill>
              <a:srgbClr val="3282B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18"/>
          <p:cNvCxnSpPr/>
          <p:nvPr/>
        </p:nvCxnSpPr>
        <p:spPr>
          <a:xfrm>
            <a:off x="1465625" y="1771100"/>
            <a:ext cx="0" cy="288600"/>
          </a:xfrm>
          <a:prstGeom prst="straightConnector1">
            <a:avLst/>
          </a:prstGeom>
          <a:noFill/>
          <a:ln cap="flat" cmpd="sng" w="19050">
            <a:solidFill>
              <a:srgbClr val="3282B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"/>
          <p:cNvSpPr/>
          <p:nvPr/>
        </p:nvSpPr>
        <p:spPr>
          <a:xfrm>
            <a:off x="0" y="0"/>
            <a:ext cx="9144000" cy="819150"/>
          </a:xfrm>
          <a:prstGeom prst="rect">
            <a:avLst/>
          </a:prstGeom>
          <a:solidFill>
            <a:srgbClr val="0F4C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507950" y="228940"/>
            <a:ext cx="82908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Technology Selection Rationale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381000" y="971550"/>
            <a:ext cx="8382000" cy="3596580"/>
          </a:xfrm>
          <a:prstGeom prst="roundRect">
            <a:avLst>
              <a:gd fmla="val 2119" name="adj"/>
            </a:avLst>
          </a:prstGeom>
          <a:solidFill>
            <a:srgbClr val="FFFFFF"/>
          </a:solidFill>
          <a:ln cap="flat" cmpd="sng" w="9525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390525" y="981075"/>
            <a:ext cx="8362950" cy="406301"/>
          </a:xfrm>
          <a:prstGeom prst="rect">
            <a:avLst/>
          </a:prstGeom>
          <a:solidFill>
            <a:srgbClr val="0F4C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1" name="Google Shape;231;p19"/>
          <p:cNvCxnSpPr/>
          <p:nvPr/>
        </p:nvCxnSpPr>
        <p:spPr>
          <a:xfrm>
            <a:off x="390525" y="1382613"/>
            <a:ext cx="8362950" cy="0"/>
          </a:xfrm>
          <a:prstGeom prst="straightConnector1">
            <a:avLst/>
          </a:prstGeom>
          <a:noFill/>
          <a:ln cap="flat" cmpd="sng" w="9525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2" name="Google Shape;232;p19"/>
          <p:cNvSpPr/>
          <p:nvPr/>
        </p:nvSpPr>
        <p:spPr>
          <a:xfrm>
            <a:off x="542925" y="1108025"/>
            <a:ext cx="131159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Component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2133600" y="1108025"/>
            <a:ext cx="1603058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Chosen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4010025" y="1108025"/>
            <a:ext cx="204025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Alternatives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6315075" y="1108025"/>
            <a:ext cx="233172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Why This Choice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6" name="Google Shape;236;p19"/>
          <p:cNvCxnSpPr/>
          <p:nvPr/>
        </p:nvCxnSpPr>
        <p:spPr>
          <a:xfrm>
            <a:off x="390525" y="1912739"/>
            <a:ext cx="8362950" cy="0"/>
          </a:xfrm>
          <a:prstGeom prst="straightConnector1">
            <a:avLst/>
          </a:prstGeom>
          <a:noFill/>
          <a:ln cap="flat" cmpd="sng" w="9525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7" name="Google Shape;237;p19"/>
          <p:cNvSpPr/>
          <p:nvPr/>
        </p:nvSpPr>
        <p:spPr>
          <a:xfrm>
            <a:off x="542925" y="1514326"/>
            <a:ext cx="131159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2C"/>
              </a:buClr>
              <a:buSzPts val="1000"/>
              <a:buFont typeface="Arial"/>
              <a:buNone/>
            </a:pPr>
            <a:r>
              <a:rPr b="1" i="0" lang="en" sz="1100" u="none" cap="none" strike="noStrike">
                <a:solidFill>
                  <a:srgbClr val="1B262C"/>
                </a:solidFill>
                <a:latin typeface="Arial"/>
                <a:ea typeface="Arial"/>
                <a:cs typeface="Arial"/>
                <a:sym typeface="Arial"/>
              </a:rPr>
              <a:t>Agent Framework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9"/>
          <p:cNvSpPr/>
          <p:nvPr/>
        </p:nvSpPr>
        <p:spPr>
          <a:xfrm>
            <a:off x="2133600" y="1514326"/>
            <a:ext cx="160305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900"/>
              <a:buFont typeface="Arial"/>
              <a:buNone/>
            </a:pPr>
            <a:r>
              <a:rPr b="1" i="0" lang="en" sz="11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Google ADK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4010025" y="1514326"/>
            <a:ext cx="204025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rPr>
              <a:t>LangChain, CrewAI, AutoGen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9"/>
          <p:cNvSpPr/>
          <p:nvPr/>
        </p:nvSpPr>
        <p:spPr>
          <a:xfrm>
            <a:off x="6315075" y="1514326"/>
            <a:ext cx="233172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Native Vertex AI integration, production-ready, AgentTool pattern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"/>
          <p:cNvSpPr/>
          <p:nvPr/>
        </p:nvSpPr>
        <p:spPr>
          <a:xfrm>
            <a:off x="390525" y="1917502"/>
            <a:ext cx="8362950" cy="53012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" name="Google Shape;242;p19"/>
          <p:cNvCxnSpPr/>
          <p:nvPr/>
        </p:nvCxnSpPr>
        <p:spPr>
          <a:xfrm>
            <a:off x="390525" y="2442865"/>
            <a:ext cx="8362950" cy="0"/>
          </a:xfrm>
          <a:prstGeom prst="straightConnector1">
            <a:avLst/>
          </a:prstGeom>
          <a:noFill/>
          <a:ln cap="flat" cmpd="sng" w="9525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" name="Google Shape;243;p19"/>
          <p:cNvSpPr/>
          <p:nvPr/>
        </p:nvSpPr>
        <p:spPr>
          <a:xfrm>
            <a:off x="542925" y="2044452"/>
            <a:ext cx="131159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2C"/>
              </a:buClr>
              <a:buSzPts val="1000"/>
              <a:buFont typeface="Arial"/>
              <a:buNone/>
            </a:pPr>
            <a:r>
              <a:rPr b="1" i="0" lang="en" sz="1100" u="none" cap="none" strike="noStrike">
                <a:solidFill>
                  <a:srgbClr val="1B262C"/>
                </a:solidFill>
                <a:latin typeface="Arial"/>
                <a:ea typeface="Arial"/>
                <a:cs typeface="Arial"/>
                <a:sym typeface="Arial"/>
              </a:rPr>
              <a:t>Orchestration LLM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2133600" y="2044452"/>
            <a:ext cx="160305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900"/>
              <a:buFont typeface="Arial"/>
              <a:buNone/>
            </a:pPr>
            <a:r>
              <a:rPr b="1" i="0" lang="en" sz="11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Gemini 2.5 Pro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4010025" y="2044452"/>
            <a:ext cx="204025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rPr>
              <a:t>GPT-4, Claude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6315075" y="2044452"/>
            <a:ext cx="233172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Superior reasoning, 50% lower cost, 1M token context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7" name="Google Shape;247;p19"/>
          <p:cNvCxnSpPr/>
          <p:nvPr/>
        </p:nvCxnSpPr>
        <p:spPr>
          <a:xfrm>
            <a:off x="390525" y="2972991"/>
            <a:ext cx="8362950" cy="0"/>
          </a:xfrm>
          <a:prstGeom prst="straightConnector1">
            <a:avLst/>
          </a:prstGeom>
          <a:noFill/>
          <a:ln cap="flat" cmpd="sng" w="9525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" name="Google Shape;248;p19"/>
          <p:cNvSpPr/>
          <p:nvPr/>
        </p:nvSpPr>
        <p:spPr>
          <a:xfrm>
            <a:off x="542925" y="2574578"/>
            <a:ext cx="131159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2C"/>
              </a:buClr>
              <a:buSzPts val="1000"/>
              <a:buFont typeface="Arial"/>
              <a:buNone/>
            </a:pPr>
            <a:r>
              <a:rPr b="1" i="0" lang="en" sz="1100" u="none" cap="none" strike="noStrike">
                <a:solidFill>
                  <a:srgbClr val="1B262C"/>
                </a:solidFill>
                <a:latin typeface="Arial"/>
                <a:ea typeface="Arial"/>
                <a:cs typeface="Arial"/>
                <a:sym typeface="Arial"/>
              </a:rPr>
              <a:t>SQL Generation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2133600" y="2574578"/>
            <a:ext cx="160305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900"/>
              <a:buFont typeface="Arial"/>
              <a:buNone/>
            </a:pPr>
            <a:r>
              <a:rPr b="1" i="0" lang="en" sz="11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Pandas AI + GPT-4o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4010025" y="2574578"/>
            <a:ext cx="204025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rPr>
              <a:t>LangChain SQL, Vanna.ai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6315075" y="2574578"/>
            <a:ext cx="233172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Higher accuracy on complex joins, schema-aware prompts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390525" y="2977753"/>
            <a:ext cx="8362950" cy="53012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3" name="Google Shape;253;p19"/>
          <p:cNvCxnSpPr/>
          <p:nvPr/>
        </p:nvCxnSpPr>
        <p:spPr>
          <a:xfrm>
            <a:off x="390525" y="3503116"/>
            <a:ext cx="8362950" cy="0"/>
          </a:xfrm>
          <a:prstGeom prst="straightConnector1">
            <a:avLst/>
          </a:prstGeom>
          <a:noFill/>
          <a:ln cap="flat" cmpd="sng" w="9525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" name="Google Shape;254;p19"/>
          <p:cNvSpPr/>
          <p:nvPr/>
        </p:nvSpPr>
        <p:spPr>
          <a:xfrm>
            <a:off x="542925" y="3104704"/>
            <a:ext cx="131159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2C"/>
              </a:buClr>
              <a:buSzPts val="1000"/>
              <a:buFont typeface="Arial"/>
              <a:buNone/>
            </a:pPr>
            <a:r>
              <a:rPr b="1" i="0" lang="en" sz="1100" u="none" cap="none" strike="noStrike">
                <a:solidFill>
                  <a:srgbClr val="1B262C"/>
                </a:solidFill>
                <a:latin typeface="Arial"/>
                <a:ea typeface="Arial"/>
                <a:cs typeface="Arial"/>
                <a:sym typeface="Arial"/>
              </a:rPr>
              <a:t>Query Engine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2133600" y="3104704"/>
            <a:ext cx="160305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900"/>
              <a:buFont typeface="Arial"/>
              <a:buNone/>
            </a:pPr>
            <a:r>
              <a:rPr b="1" i="0" lang="en" sz="11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DuckDB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4010025" y="3104704"/>
            <a:ext cx="204025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rPr>
              <a:t>SQLite, Pandas, Polars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6315075" y="3104704"/>
            <a:ext cx="233172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10x faster OLAP, columnar storage, zero config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19"/>
          <p:cNvCxnSpPr/>
          <p:nvPr/>
        </p:nvCxnSpPr>
        <p:spPr>
          <a:xfrm>
            <a:off x="390525" y="4033242"/>
            <a:ext cx="8362950" cy="0"/>
          </a:xfrm>
          <a:prstGeom prst="straightConnector1">
            <a:avLst/>
          </a:prstGeom>
          <a:noFill/>
          <a:ln cap="flat" cmpd="sng" w="9525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p19"/>
          <p:cNvSpPr/>
          <p:nvPr/>
        </p:nvSpPr>
        <p:spPr>
          <a:xfrm>
            <a:off x="542925" y="3634829"/>
            <a:ext cx="131159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2C"/>
              </a:buClr>
              <a:buSzPts val="1000"/>
              <a:buFont typeface="Arial"/>
              <a:buNone/>
            </a:pPr>
            <a:r>
              <a:rPr b="1" i="0" lang="en" sz="1100" u="none" cap="none" strike="noStrike">
                <a:solidFill>
                  <a:srgbClr val="1B262C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2133600" y="3634829"/>
            <a:ext cx="160305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900"/>
              <a:buFont typeface="Arial"/>
              <a:buNone/>
            </a:pPr>
            <a:r>
              <a:rPr b="1" i="0" lang="en" sz="11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NVIDIA NeMo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4010025" y="3634829"/>
            <a:ext cx="204025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rPr>
              <a:t>Guardrails AI, custom regex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6315075" y="3634829"/>
            <a:ext cx="233172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Colang DSL, policy-as-code, LLM + pattern matching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390525" y="4038005"/>
            <a:ext cx="8362950" cy="520601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542925" y="4164955"/>
            <a:ext cx="131159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2C"/>
              </a:buClr>
              <a:buSzPts val="1000"/>
              <a:buFont typeface="Arial"/>
              <a:buNone/>
            </a:pPr>
            <a:r>
              <a:rPr b="1" i="0" lang="en" sz="1100" u="none" cap="none" strike="noStrike">
                <a:solidFill>
                  <a:srgbClr val="1B262C"/>
                </a:solidFill>
                <a:latin typeface="Arial"/>
                <a:ea typeface="Arial"/>
                <a:cs typeface="Arial"/>
                <a:sym typeface="Arial"/>
              </a:rPr>
              <a:t>Scale Path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2133600" y="4164955"/>
            <a:ext cx="160305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900"/>
              <a:buFont typeface="Arial"/>
              <a:buNone/>
            </a:pPr>
            <a:r>
              <a:rPr b="1" i="0" lang="en" sz="11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BigQuery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4010025" y="4164955"/>
            <a:ext cx="204025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rPr>
              <a:t>Snowflake, Redshift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9"/>
          <p:cNvSpPr/>
          <p:nvPr/>
        </p:nvSpPr>
        <p:spPr>
          <a:xfrm>
            <a:off x="6315075" y="4164955"/>
            <a:ext cx="233172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Serverless, pay-per-query, native GCP ecosystem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0F4C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0"/>
          <p:cNvSpPr/>
          <p:nvPr/>
        </p:nvSpPr>
        <p:spPr>
          <a:xfrm>
            <a:off x="507950" y="152400"/>
            <a:ext cx="829066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Security &amp; Guardrails Architecture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0"/>
          <p:cNvSpPr/>
          <p:nvPr/>
        </p:nvSpPr>
        <p:spPr>
          <a:xfrm>
            <a:off x="381000" y="781050"/>
            <a:ext cx="4470600" cy="1027500"/>
          </a:xfrm>
          <a:prstGeom prst="roundRect">
            <a:avLst>
              <a:gd fmla="val 856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6" name="Google Shape;276;p20"/>
          <p:cNvCxnSpPr/>
          <p:nvPr/>
        </p:nvCxnSpPr>
        <p:spPr>
          <a:xfrm>
            <a:off x="400050" y="781050"/>
            <a:ext cx="0" cy="1027500"/>
          </a:xfrm>
          <a:prstGeom prst="straightConnector1">
            <a:avLst/>
          </a:prstGeom>
          <a:noFill/>
          <a:ln cap="flat" cmpd="sng" w="381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77" name="Google Shape;277;p20"/>
          <p:cNvGrpSpPr/>
          <p:nvPr/>
        </p:nvGrpSpPr>
        <p:grpSpPr>
          <a:xfrm>
            <a:off x="549300" y="1085663"/>
            <a:ext cx="253800" cy="253800"/>
            <a:chOff x="571500" y="908000"/>
            <a:chExt cx="253800" cy="253800"/>
          </a:xfrm>
        </p:grpSpPr>
        <p:sp>
          <p:nvSpPr>
            <p:cNvPr id="278" name="Google Shape;278;p20"/>
            <p:cNvSpPr/>
            <p:nvPr/>
          </p:nvSpPr>
          <p:spPr>
            <a:xfrm>
              <a:off x="571500" y="908000"/>
              <a:ext cx="253800" cy="253800"/>
            </a:xfrm>
            <a:prstGeom prst="roundRect">
              <a:avLst>
                <a:gd fmla="val 360140" name="adj"/>
              </a:avLst>
            </a:prstGeom>
            <a:solidFill>
              <a:srgbClr val="E74C3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20"/>
            <p:cNvSpPr/>
            <p:nvPr/>
          </p:nvSpPr>
          <p:spPr>
            <a:xfrm>
              <a:off x="663029" y="963513"/>
              <a:ext cx="720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0" name="Google Shape;280;p20"/>
          <p:cNvSpPr/>
          <p:nvPr/>
        </p:nvSpPr>
        <p:spPr>
          <a:xfrm>
            <a:off x="952351" y="956923"/>
            <a:ext cx="38217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2C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B262C"/>
                </a:solidFill>
                <a:latin typeface="Arial"/>
                <a:ea typeface="Arial"/>
                <a:cs typeface="Arial"/>
                <a:sym typeface="Arial"/>
              </a:rPr>
              <a:t>Pattern Matching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0"/>
          <p:cNvSpPr/>
          <p:nvPr/>
        </p:nvSpPr>
        <p:spPr>
          <a:xfrm>
            <a:off x="952351" y="1220838"/>
            <a:ext cx="3821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Regex detection for SQL injection (DROP, DELETE) and prompt injection attempts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0"/>
          <p:cNvSpPr/>
          <p:nvPr/>
        </p:nvSpPr>
        <p:spPr>
          <a:xfrm>
            <a:off x="381000" y="1948871"/>
            <a:ext cx="4470600" cy="821400"/>
          </a:xfrm>
          <a:prstGeom prst="roundRect">
            <a:avLst>
              <a:gd fmla="val 1071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3" name="Google Shape;283;p20"/>
          <p:cNvCxnSpPr/>
          <p:nvPr/>
        </p:nvCxnSpPr>
        <p:spPr>
          <a:xfrm>
            <a:off x="400050" y="1948871"/>
            <a:ext cx="0" cy="821400"/>
          </a:xfrm>
          <a:prstGeom prst="straightConnector1">
            <a:avLst/>
          </a:prstGeom>
          <a:noFill/>
          <a:ln cap="flat" cmpd="sng" w="381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" name="Google Shape;284;p20"/>
          <p:cNvSpPr/>
          <p:nvPr/>
        </p:nvSpPr>
        <p:spPr>
          <a:xfrm>
            <a:off x="571500" y="2193195"/>
            <a:ext cx="253800" cy="253800"/>
          </a:xfrm>
          <a:prstGeom prst="roundRect">
            <a:avLst>
              <a:gd fmla="val 360140" name="adj"/>
            </a:avLst>
          </a:prstGeom>
          <a:solidFill>
            <a:srgbClr val="E74C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0"/>
          <p:cNvSpPr/>
          <p:nvPr/>
        </p:nvSpPr>
        <p:spPr>
          <a:xfrm>
            <a:off x="663029" y="2248708"/>
            <a:ext cx="720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0"/>
          <p:cNvSpPr/>
          <p:nvPr/>
        </p:nvSpPr>
        <p:spPr>
          <a:xfrm>
            <a:off x="952351" y="2124744"/>
            <a:ext cx="38217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2C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B262C"/>
                </a:solidFill>
                <a:latin typeface="Arial"/>
                <a:ea typeface="Arial"/>
                <a:cs typeface="Arial"/>
                <a:sym typeface="Arial"/>
              </a:rPr>
              <a:t>Topic Classification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0"/>
          <p:cNvSpPr/>
          <p:nvPr/>
        </p:nvSpPr>
        <p:spPr>
          <a:xfrm>
            <a:off x="952351" y="2388658"/>
            <a:ext cx="3821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Colang DSL policies: on-topic (sales) vs off-topic (weather, jokes)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0"/>
          <p:cNvSpPr/>
          <p:nvPr/>
        </p:nvSpPr>
        <p:spPr>
          <a:xfrm>
            <a:off x="381000" y="2910920"/>
            <a:ext cx="4470600" cy="821400"/>
          </a:xfrm>
          <a:prstGeom prst="roundRect">
            <a:avLst>
              <a:gd fmla="val 1071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9" name="Google Shape;289;p20"/>
          <p:cNvCxnSpPr/>
          <p:nvPr/>
        </p:nvCxnSpPr>
        <p:spPr>
          <a:xfrm>
            <a:off x="400050" y="2910920"/>
            <a:ext cx="0" cy="821400"/>
          </a:xfrm>
          <a:prstGeom prst="straightConnector1">
            <a:avLst/>
          </a:prstGeom>
          <a:noFill/>
          <a:ln cap="flat" cmpd="sng" w="381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" name="Google Shape;290;p20"/>
          <p:cNvSpPr/>
          <p:nvPr/>
        </p:nvSpPr>
        <p:spPr>
          <a:xfrm>
            <a:off x="571500" y="3159770"/>
            <a:ext cx="253800" cy="253800"/>
          </a:xfrm>
          <a:prstGeom prst="roundRect">
            <a:avLst>
              <a:gd fmla="val 360140" name="adj"/>
            </a:avLst>
          </a:prstGeom>
          <a:solidFill>
            <a:srgbClr val="E74C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0"/>
          <p:cNvSpPr/>
          <p:nvPr/>
        </p:nvSpPr>
        <p:spPr>
          <a:xfrm>
            <a:off x="663029" y="3215283"/>
            <a:ext cx="720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0"/>
          <p:cNvSpPr/>
          <p:nvPr/>
        </p:nvSpPr>
        <p:spPr>
          <a:xfrm>
            <a:off x="952351" y="3086794"/>
            <a:ext cx="38217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2C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B262C"/>
                </a:solidFill>
                <a:latin typeface="Arial"/>
                <a:ea typeface="Arial"/>
                <a:cs typeface="Arial"/>
                <a:sym typeface="Arial"/>
              </a:rPr>
              <a:t>LLM Intent Validation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0"/>
          <p:cNvSpPr/>
          <p:nvPr/>
        </p:nvSpPr>
        <p:spPr>
          <a:xfrm>
            <a:off x="952351" y="3350708"/>
            <a:ext cx="3821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OpenAI validates ambiguous queries that may be adversarial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0"/>
          <p:cNvSpPr/>
          <p:nvPr/>
        </p:nvSpPr>
        <p:spPr>
          <a:xfrm>
            <a:off x="5105400" y="781050"/>
            <a:ext cx="3657600" cy="1807200"/>
          </a:xfrm>
          <a:prstGeom prst="roundRect">
            <a:avLst>
              <a:gd fmla="val 4868" name="adj"/>
            </a:avLst>
          </a:prstGeom>
          <a:solidFill>
            <a:srgbClr val="FFFFFF"/>
          </a:solidFill>
          <a:ln cap="flat" cmpd="sng" w="9525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0"/>
          <p:cNvSpPr/>
          <p:nvPr/>
        </p:nvSpPr>
        <p:spPr>
          <a:xfrm>
            <a:off x="5267325" y="970119"/>
            <a:ext cx="34005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1000"/>
              <a:buFont typeface="Arial"/>
              <a:buNone/>
            </a:pPr>
            <a:r>
              <a:rPr b="1" i="0" lang="en" sz="1100" u="none" cap="none" strike="noStrike">
                <a:solidFill>
                  <a:srgbClr val="0F4C75"/>
                </a:solidFill>
                <a:latin typeface="Arial"/>
                <a:ea typeface="Arial"/>
                <a:cs typeface="Arial"/>
                <a:sym typeface="Arial"/>
              </a:rPr>
              <a:t>Query Examples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0"/>
          <p:cNvSpPr/>
          <p:nvPr/>
        </p:nvSpPr>
        <p:spPr>
          <a:xfrm>
            <a:off x="5267325" y="1308672"/>
            <a:ext cx="181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900"/>
              <a:buFont typeface="Arial"/>
              <a:buNone/>
            </a:pPr>
            <a:r>
              <a:rPr b="0" i="0" lang="en" sz="11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0"/>
          <p:cNvSpPr/>
          <p:nvPr/>
        </p:nvSpPr>
        <p:spPr>
          <a:xfrm>
            <a:off x="5445026" y="1321868"/>
            <a:ext cx="3219300" cy="1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"Top 5 selling categories?"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0"/>
          <p:cNvSpPr/>
          <p:nvPr/>
        </p:nvSpPr>
        <p:spPr>
          <a:xfrm>
            <a:off x="5267325" y="1581246"/>
            <a:ext cx="181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900"/>
              <a:buFont typeface="Arial"/>
              <a:buNone/>
            </a:pPr>
            <a:r>
              <a:rPr b="0" i="0" lang="en" sz="11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0"/>
          <p:cNvSpPr/>
          <p:nvPr/>
        </p:nvSpPr>
        <p:spPr>
          <a:xfrm>
            <a:off x="5445026" y="1594442"/>
            <a:ext cx="3219300" cy="1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"Show sales by state"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0"/>
          <p:cNvSpPr/>
          <p:nvPr/>
        </p:nvSpPr>
        <p:spPr>
          <a:xfrm>
            <a:off x="5267325" y="1853820"/>
            <a:ext cx="181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900"/>
              <a:buFont typeface="Arial"/>
              <a:buNone/>
            </a:pPr>
            <a:r>
              <a:rPr b="0" i="0" lang="en" sz="1100" u="none" cap="none" strike="noStrike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0"/>
          <p:cNvSpPr/>
          <p:nvPr/>
        </p:nvSpPr>
        <p:spPr>
          <a:xfrm>
            <a:off x="5445026" y="1867016"/>
            <a:ext cx="3219300" cy="1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"DROP TABLE orders"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0"/>
          <p:cNvSpPr/>
          <p:nvPr/>
        </p:nvSpPr>
        <p:spPr>
          <a:xfrm>
            <a:off x="5267325" y="2126394"/>
            <a:ext cx="181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900"/>
              <a:buFont typeface="Arial"/>
              <a:buNone/>
            </a:pPr>
            <a:r>
              <a:rPr b="0" i="0" lang="en" sz="1100" u="none" cap="none" strike="noStrike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0"/>
          <p:cNvSpPr/>
          <p:nvPr/>
        </p:nvSpPr>
        <p:spPr>
          <a:xfrm>
            <a:off x="5445026" y="2139590"/>
            <a:ext cx="3219300" cy="1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"Write me an email"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0"/>
          <p:cNvSpPr/>
          <p:nvPr/>
        </p:nvSpPr>
        <p:spPr>
          <a:xfrm>
            <a:off x="5105400" y="2728653"/>
            <a:ext cx="3657600" cy="1500000"/>
          </a:xfrm>
          <a:prstGeom prst="roundRect">
            <a:avLst>
              <a:gd fmla="val 5866" name="adj"/>
            </a:avLst>
          </a:prstGeom>
          <a:solidFill>
            <a:srgbClr val="1B26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305" name="Google Shape;305;p20"/>
          <p:cNvSpPr/>
          <p:nvPr/>
        </p:nvSpPr>
        <p:spPr>
          <a:xfrm>
            <a:off x="5257800" y="2904528"/>
            <a:ext cx="34200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1000"/>
              <a:buFont typeface="Arial"/>
              <a:buNone/>
            </a:pPr>
            <a:r>
              <a:rPr b="1" i="0" lang="en" sz="1100" u="none" cap="none" strike="noStrike">
                <a:solidFill>
                  <a:srgbClr val="00C49A"/>
                </a:solidFill>
              </a:rPr>
              <a:t>Audit Logging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306" name="Google Shape;306;p20"/>
          <p:cNvSpPr/>
          <p:nvPr/>
        </p:nvSpPr>
        <p:spPr>
          <a:xfrm>
            <a:off x="5257800" y="3208029"/>
            <a:ext cx="1196700" cy="1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Arial"/>
              <a:buNone/>
            </a:pPr>
            <a:r>
              <a:rPr i="0" lang="en" sz="1100" u="none" cap="none" strike="noStrike">
                <a:solidFill>
                  <a:srgbClr val="6C757D"/>
                </a:solidFill>
              </a:rPr>
              <a:t>Timestamp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307" name="Google Shape;307;p20"/>
          <p:cNvSpPr/>
          <p:nvPr/>
        </p:nvSpPr>
        <p:spPr>
          <a:xfrm>
            <a:off x="6431161" y="3208029"/>
            <a:ext cx="2223000" cy="1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i="0" lang="en" sz="1100" u="none" cap="none" strike="noStrike">
                <a:solidFill>
                  <a:srgbClr val="FFFFFF"/>
                </a:solidFill>
              </a:rPr>
              <a:t>2024-12-08T10:23:45Z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308" name="Google Shape;308;p20"/>
          <p:cNvSpPr/>
          <p:nvPr/>
        </p:nvSpPr>
        <p:spPr>
          <a:xfrm>
            <a:off x="5257800" y="3419161"/>
            <a:ext cx="1196700" cy="1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Arial"/>
              <a:buNone/>
            </a:pPr>
            <a:r>
              <a:rPr i="0" lang="en" sz="1100" u="none" cap="none" strike="noStrike">
                <a:solidFill>
                  <a:srgbClr val="6C757D"/>
                </a:solidFill>
              </a:rPr>
              <a:t>Query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309" name="Google Shape;309;p20"/>
          <p:cNvSpPr/>
          <p:nvPr/>
        </p:nvSpPr>
        <p:spPr>
          <a:xfrm>
            <a:off x="6431161" y="3419161"/>
            <a:ext cx="2223000" cy="1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i="0" lang="en" sz="1100" u="none" cap="none" strike="noStrike">
                <a:solidFill>
                  <a:srgbClr val="FFFFFF"/>
                </a:solidFill>
              </a:rPr>
              <a:t>"DROP TABLE..."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310" name="Google Shape;310;p20"/>
          <p:cNvSpPr/>
          <p:nvPr/>
        </p:nvSpPr>
        <p:spPr>
          <a:xfrm>
            <a:off x="5257800" y="3630292"/>
            <a:ext cx="1196700" cy="1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Arial"/>
              <a:buNone/>
            </a:pPr>
            <a:r>
              <a:rPr i="0" lang="en" sz="1100" u="none" cap="none" strike="noStrike">
                <a:solidFill>
                  <a:srgbClr val="6C757D"/>
                </a:solidFill>
              </a:rPr>
              <a:t>Classification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311" name="Google Shape;311;p20"/>
          <p:cNvSpPr/>
          <p:nvPr/>
        </p:nvSpPr>
        <p:spPr>
          <a:xfrm>
            <a:off x="6431161" y="3630292"/>
            <a:ext cx="2223000" cy="1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i="0" lang="en" sz="1100" u="none" cap="none" strike="noStrike">
                <a:solidFill>
                  <a:srgbClr val="FFFFFF"/>
                </a:solidFill>
              </a:rPr>
              <a:t>BLOCKED:SQL_INJECT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312" name="Google Shape;312;p20"/>
          <p:cNvSpPr/>
          <p:nvPr/>
        </p:nvSpPr>
        <p:spPr>
          <a:xfrm>
            <a:off x="5257800" y="3841423"/>
            <a:ext cx="1196700" cy="1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Arial"/>
              <a:buNone/>
            </a:pPr>
            <a:r>
              <a:rPr i="0" lang="en" sz="1100" u="none" cap="none" strike="noStrike">
                <a:solidFill>
                  <a:srgbClr val="6C757D"/>
                </a:solidFill>
              </a:rPr>
              <a:t>Layer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313" name="Google Shape;313;p20"/>
          <p:cNvSpPr/>
          <p:nvPr/>
        </p:nvSpPr>
        <p:spPr>
          <a:xfrm>
            <a:off x="6431161" y="3841423"/>
            <a:ext cx="2223000" cy="1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i="0" lang="en" sz="1100" u="none" cap="none" strike="noStrike">
                <a:solidFill>
                  <a:srgbClr val="FFFFFF"/>
                </a:solidFill>
              </a:rPr>
              <a:t>PATTERN_MATCH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1"/>
          <p:cNvSpPr/>
          <p:nvPr/>
        </p:nvSpPr>
        <p:spPr>
          <a:xfrm>
            <a:off x="0" y="0"/>
            <a:ext cx="9144000" cy="758726"/>
          </a:xfrm>
          <a:prstGeom prst="rect">
            <a:avLst/>
          </a:prstGeom>
          <a:solidFill>
            <a:srgbClr val="0F4C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1"/>
          <p:cNvSpPr/>
          <p:nvPr/>
        </p:nvSpPr>
        <p:spPr>
          <a:xfrm>
            <a:off x="507950" y="203150"/>
            <a:ext cx="829066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Query-Response Pipeline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1"/>
          <p:cNvSpPr/>
          <p:nvPr/>
        </p:nvSpPr>
        <p:spPr>
          <a:xfrm>
            <a:off x="381000" y="949226"/>
            <a:ext cx="1183481" cy="761702"/>
          </a:xfrm>
          <a:prstGeom prst="roundRect">
            <a:avLst>
              <a:gd fmla="val 6669" name="adj"/>
            </a:avLst>
          </a:prstGeom>
          <a:solidFill>
            <a:srgbClr val="E8F8F5"/>
          </a:solidFill>
          <a:ln cap="flat" cmpd="sng" w="1905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1"/>
          <p:cNvSpPr/>
          <p:nvPr/>
        </p:nvSpPr>
        <p:spPr>
          <a:xfrm>
            <a:off x="518086" y="1069777"/>
            <a:ext cx="90931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1400"/>
              <a:buFont typeface="Arial"/>
              <a:buNone/>
            </a:pPr>
            <a:r>
              <a:rPr b="1" i="0" lang="en" sz="1100" u="none" cap="none" strike="noStrike">
                <a:solidFill>
                  <a:srgbClr val="0F4C7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1"/>
          <p:cNvSpPr/>
          <p:nvPr/>
        </p:nvSpPr>
        <p:spPr>
          <a:xfrm>
            <a:off x="518086" y="1317427"/>
            <a:ext cx="90931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2C"/>
              </a:buClr>
              <a:buSzPts val="900"/>
              <a:buFont typeface="Arial"/>
              <a:buNone/>
            </a:pPr>
            <a:r>
              <a:rPr b="1" i="0" lang="en" sz="1100" u="none" cap="none" strike="noStrike">
                <a:solidFill>
                  <a:srgbClr val="1B262C"/>
                </a:solidFill>
                <a:latin typeface="Arial"/>
                <a:ea typeface="Arial"/>
                <a:cs typeface="Arial"/>
                <a:sym typeface="Arial"/>
              </a:rPr>
              <a:t>User Query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1"/>
          <p:cNvSpPr/>
          <p:nvPr/>
        </p:nvSpPr>
        <p:spPr>
          <a:xfrm>
            <a:off x="518086" y="1476077"/>
            <a:ext cx="90931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0ms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1"/>
          <p:cNvSpPr/>
          <p:nvPr/>
        </p:nvSpPr>
        <p:spPr>
          <a:xfrm>
            <a:off x="1640681" y="1126927"/>
            <a:ext cx="105960" cy="406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82B8"/>
              </a:buClr>
              <a:buSzPts val="1400"/>
              <a:buFont typeface="Arial"/>
              <a:buNone/>
            </a:pPr>
            <a:r>
              <a:rPr b="0" i="0" lang="en" sz="1100" u="none" cap="none" strike="noStrike">
                <a:solidFill>
                  <a:srgbClr val="3282B8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1"/>
          <p:cNvSpPr/>
          <p:nvPr/>
        </p:nvSpPr>
        <p:spPr>
          <a:xfrm>
            <a:off x="1820763" y="949226"/>
            <a:ext cx="1183481" cy="761702"/>
          </a:xfrm>
          <a:prstGeom prst="roundRect">
            <a:avLst>
              <a:gd fmla="val 6669" name="adj"/>
            </a:avLst>
          </a:prstGeom>
          <a:solidFill>
            <a:srgbClr val="FFFFFF"/>
          </a:solidFill>
          <a:ln cap="flat" cmpd="sng" w="1905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1"/>
          <p:cNvSpPr/>
          <p:nvPr/>
        </p:nvSpPr>
        <p:spPr>
          <a:xfrm>
            <a:off x="1957849" y="1069777"/>
            <a:ext cx="90931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1400"/>
              <a:buFont typeface="Arial"/>
              <a:buNone/>
            </a:pPr>
            <a:r>
              <a:rPr b="1" i="0" lang="en" sz="1100" u="none" cap="none" strike="noStrike">
                <a:solidFill>
                  <a:srgbClr val="0F4C7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1"/>
          <p:cNvSpPr/>
          <p:nvPr/>
        </p:nvSpPr>
        <p:spPr>
          <a:xfrm>
            <a:off x="1957849" y="1317427"/>
            <a:ext cx="90931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2C"/>
              </a:buClr>
              <a:buSzPts val="900"/>
              <a:buFont typeface="Arial"/>
              <a:buNone/>
            </a:pPr>
            <a:r>
              <a:rPr b="1" i="0" lang="en" sz="1100" u="none" cap="none" strike="noStrike">
                <a:solidFill>
                  <a:srgbClr val="1B262C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1"/>
          <p:cNvSpPr/>
          <p:nvPr/>
        </p:nvSpPr>
        <p:spPr>
          <a:xfrm>
            <a:off x="1957849" y="1476077"/>
            <a:ext cx="90931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200ms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1"/>
          <p:cNvSpPr/>
          <p:nvPr/>
        </p:nvSpPr>
        <p:spPr>
          <a:xfrm>
            <a:off x="3080445" y="1126927"/>
            <a:ext cx="105960" cy="406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82B8"/>
              </a:buClr>
              <a:buSzPts val="1400"/>
              <a:buFont typeface="Arial"/>
              <a:buNone/>
            </a:pPr>
            <a:r>
              <a:rPr b="0" i="0" lang="en" sz="1100" u="none" cap="none" strike="noStrike">
                <a:solidFill>
                  <a:srgbClr val="3282B8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1"/>
          <p:cNvSpPr/>
          <p:nvPr/>
        </p:nvSpPr>
        <p:spPr>
          <a:xfrm>
            <a:off x="3260527" y="949226"/>
            <a:ext cx="1183481" cy="761702"/>
          </a:xfrm>
          <a:prstGeom prst="roundRect">
            <a:avLst>
              <a:gd fmla="val 6669" name="adj"/>
            </a:avLst>
          </a:prstGeom>
          <a:solidFill>
            <a:srgbClr val="FFFFFF"/>
          </a:solidFill>
          <a:ln cap="flat" cmpd="sng" w="1905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1"/>
          <p:cNvSpPr/>
          <p:nvPr/>
        </p:nvSpPr>
        <p:spPr>
          <a:xfrm>
            <a:off x="3397612" y="1069777"/>
            <a:ext cx="90931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1400"/>
              <a:buFont typeface="Arial"/>
              <a:buNone/>
            </a:pPr>
            <a:r>
              <a:rPr b="1" i="0" lang="en" sz="1100" u="none" cap="none" strike="noStrike">
                <a:solidFill>
                  <a:srgbClr val="0F4C7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1"/>
          <p:cNvSpPr/>
          <p:nvPr/>
        </p:nvSpPr>
        <p:spPr>
          <a:xfrm>
            <a:off x="3397612" y="1317427"/>
            <a:ext cx="90931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2C"/>
              </a:buClr>
              <a:buSzPts val="900"/>
              <a:buFont typeface="Arial"/>
              <a:buNone/>
            </a:pPr>
            <a:r>
              <a:rPr b="1" i="0" lang="en" sz="1100" u="none" cap="none" strike="noStrike">
                <a:solidFill>
                  <a:srgbClr val="1B262C"/>
                </a:solidFill>
                <a:latin typeface="Arial"/>
                <a:ea typeface="Arial"/>
                <a:cs typeface="Arial"/>
                <a:sym typeface="Arial"/>
              </a:rPr>
              <a:t>NL to SQL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1"/>
          <p:cNvSpPr/>
          <p:nvPr/>
        </p:nvSpPr>
        <p:spPr>
          <a:xfrm>
            <a:off x="3397612" y="1476077"/>
            <a:ext cx="90931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1.2s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1"/>
          <p:cNvSpPr/>
          <p:nvPr/>
        </p:nvSpPr>
        <p:spPr>
          <a:xfrm>
            <a:off x="4520208" y="1126927"/>
            <a:ext cx="105960" cy="406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82B8"/>
              </a:buClr>
              <a:buSzPts val="1400"/>
              <a:buFont typeface="Arial"/>
              <a:buNone/>
            </a:pPr>
            <a:r>
              <a:rPr b="0" i="0" lang="en" sz="1100" u="none" cap="none" strike="noStrike">
                <a:solidFill>
                  <a:srgbClr val="3282B8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1"/>
          <p:cNvSpPr/>
          <p:nvPr/>
        </p:nvSpPr>
        <p:spPr>
          <a:xfrm>
            <a:off x="4700290" y="949226"/>
            <a:ext cx="1183481" cy="761702"/>
          </a:xfrm>
          <a:prstGeom prst="roundRect">
            <a:avLst>
              <a:gd fmla="val 6669" name="adj"/>
            </a:avLst>
          </a:prstGeom>
          <a:solidFill>
            <a:srgbClr val="FFFFFF"/>
          </a:solidFill>
          <a:ln cap="flat" cmpd="sng" w="1905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1"/>
          <p:cNvSpPr/>
          <p:nvPr/>
        </p:nvSpPr>
        <p:spPr>
          <a:xfrm>
            <a:off x="4837375" y="1069777"/>
            <a:ext cx="90931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1400"/>
              <a:buFont typeface="Arial"/>
              <a:buNone/>
            </a:pPr>
            <a:r>
              <a:rPr b="1" i="0" lang="en" sz="1100" u="none" cap="none" strike="noStrike">
                <a:solidFill>
                  <a:srgbClr val="0F4C7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1"/>
          <p:cNvSpPr/>
          <p:nvPr/>
        </p:nvSpPr>
        <p:spPr>
          <a:xfrm>
            <a:off x="4837375" y="1317427"/>
            <a:ext cx="90931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2C"/>
              </a:buClr>
              <a:buSzPts val="900"/>
              <a:buFont typeface="Arial"/>
              <a:buNone/>
            </a:pPr>
            <a:r>
              <a:rPr b="1" i="0" lang="en" sz="1100" u="none" cap="none" strike="noStrike">
                <a:solidFill>
                  <a:srgbClr val="1B262C"/>
                </a:solidFill>
                <a:latin typeface="Arial"/>
                <a:ea typeface="Arial"/>
                <a:cs typeface="Arial"/>
                <a:sym typeface="Arial"/>
              </a:rPr>
              <a:t>Execute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1"/>
          <p:cNvSpPr/>
          <p:nvPr/>
        </p:nvSpPr>
        <p:spPr>
          <a:xfrm>
            <a:off x="4837375" y="1476077"/>
            <a:ext cx="90931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50ms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1"/>
          <p:cNvSpPr/>
          <p:nvPr/>
        </p:nvSpPr>
        <p:spPr>
          <a:xfrm>
            <a:off x="5959971" y="1126927"/>
            <a:ext cx="105960" cy="406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82B8"/>
              </a:buClr>
              <a:buSzPts val="1400"/>
              <a:buFont typeface="Arial"/>
              <a:buNone/>
            </a:pPr>
            <a:r>
              <a:rPr b="0" i="0" lang="en" sz="1100" u="none" cap="none" strike="noStrike">
                <a:solidFill>
                  <a:srgbClr val="3282B8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1"/>
          <p:cNvSpPr/>
          <p:nvPr/>
        </p:nvSpPr>
        <p:spPr>
          <a:xfrm>
            <a:off x="6140053" y="949226"/>
            <a:ext cx="1183481" cy="761702"/>
          </a:xfrm>
          <a:prstGeom prst="roundRect">
            <a:avLst>
              <a:gd fmla="val 6669" name="adj"/>
            </a:avLst>
          </a:prstGeom>
          <a:solidFill>
            <a:srgbClr val="FFFFFF"/>
          </a:solidFill>
          <a:ln cap="flat" cmpd="sng" w="1905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1"/>
          <p:cNvSpPr/>
          <p:nvPr/>
        </p:nvSpPr>
        <p:spPr>
          <a:xfrm>
            <a:off x="6277139" y="1069777"/>
            <a:ext cx="90931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1400"/>
              <a:buFont typeface="Arial"/>
              <a:buNone/>
            </a:pPr>
            <a:r>
              <a:rPr b="1" i="0" lang="en" sz="1100" u="none" cap="none" strike="noStrike">
                <a:solidFill>
                  <a:srgbClr val="0F4C75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1"/>
          <p:cNvSpPr/>
          <p:nvPr/>
        </p:nvSpPr>
        <p:spPr>
          <a:xfrm>
            <a:off x="6277139" y="1317427"/>
            <a:ext cx="90931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2C"/>
              </a:buClr>
              <a:buSzPts val="900"/>
              <a:buFont typeface="Arial"/>
              <a:buNone/>
            </a:pPr>
            <a:r>
              <a:rPr b="1" i="0" lang="en" sz="1100" u="none" cap="none" strike="noStrike">
                <a:solidFill>
                  <a:srgbClr val="1B262C"/>
                </a:solidFill>
                <a:latin typeface="Arial"/>
                <a:ea typeface="Arial"/>
                <a:cs typeface="Arial"/>
                <a:sym typeface="Arial"/>
              </a:rPr>
              <a:t>Format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1"/>
          <p:cNvSpPr/>
          <p:nvPr/>
        </p:nvSpPr>
        <p:spPr>
          <a:xfrm>
            <a:off x="6277139" y="1476077"/>
            <a:ext cx="90931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800ms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1"/>
          <p:cNvSpPr/>
          <p:nvPr/>
        </p:nvSpPr>
        <p:spPr>
          <a:xfrm>
            <a:off x="7399734" y="1126927"/>
            <a:ext cx="105960" cy="406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82B8"/>
              </a:buClr>
              <a:buSzPts val="1400"/>
              <a:buFont typeface="Arial"/>
              <a:buNone/>
            </a:pPr>
            <a:r>
              <a:rPr b="0" i="0" lang="en" sz="1100" u="none" cap="none" strike="noStrike">
                <a:solidFill>
                  <a:srgbClr val="3282B8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1"/>
          <p:cNvSpPr/>
          <p:nvPr/>
        </p:nvSpPr>
        <p:spPr>
          <a:xfrm>
            <a:off x="7579816" y="949226"/>
            <a:ext cx="1183481" cy="761702"/>
          </a:xfrm>
          <a:prstGeom prst="roundRect">
            <a:avLst>
              <a:gd fmla="val 6669" name="adj"/>
            </a:avLst>
          </a:prstGeom>
          <a:solidFill>
            <a:srgbClr val="E8F8F5"/>
          </a:solidFill>
          <a:ln cap="flat" cmpd="sng" w="1905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1"/>
          <p:cNvSpPr/>
          <p:nvPr/>
        </p:nvSpPr>
        <p:spPr>
          <a:xfrm>
            <a:off x="7716902" y="1069777"/>
            <a:ext cx="90931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1400"/>
              <a:buFont typeface="Arial"/>
              <a:buNone/>
            </a:pPr>
            <a:r>
              <a:rPr b="1" i="0" lang="en" sz="1100" u="none" cap="none" strike="noStrike">
                <a:solidFill>
                  <a:srgbClr val="0F4C75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1"/>
          <p:cNvSpPr/>
          <p:nvPr/>
        </p:nvSpPr>
        <p:spPr>
          <a:xfrm>
            <a:off x="7716902" y="1317427"/>
            <a:ext cx="90931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2C"/>
              </a:buClr>
              <a:buSzPts val="900"/>
              <a:buFont typeface="Arial"/>
              <a:buNone/>
            </a:pPr>
            <a:r>
              <a:rPr b="1" i="0" lang="en" sz="1100" u="none" cap="none" strike="noStrike">
                <a:solidFill>
                  <a:srgbClr val="1B262C"/>
                </a:solidFill>
                <a:latin typeface="Arial"/>
                <a:ea typeface="Arial"/>
                <a:cs typeface="Arial"/>
                <a:sym typeface="Arial"/>
              </a:rPr>
              <a:t>Response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1"/>
          <p:cNvSpPr/>
          <p:nvPr/>
        </p:nvSpPr>
        <p:spPr>
          <a:xfrm>
            <a:off x="7716902" y="1476077"/>
            <a:ext cx="90931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2.3s total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1"/>
          <p:cNvSpPr/>
          <p:nvPr/>
        </p:nvSpPr>
        <p:spPr>
          <a:xfrm>
            <a:off x="381000" y="1863328"/>
            <a:ext cx="8382000" cy="2131219"/>
          </a:xfrm>
          <a:prstGeom prst="roundRect">
            <a:avLst>
              <a:gd fmla="val 3575" name="adj"/>
            </a:avLst>
          </a:prstGeom>
          <a:solidFill>
            <a:srgbClr val="FFFFFF"/>
          </a:solidFill>
          <a:ln cap="flat" cmpd="sng" w="9525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1"/>
          <p:cNvSpPr/>
          <p:nvPr/>
        </p:nvSpPr>
        <p:spPr>
          <a:xfrm>
            <a:off x="619125" y="2050554"/>
            <a:ext cx="806386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F4C75"/>
                </a:solidFill>
                <a:latin typeface="Arial"/>
                <a:ea typeface="Arial"/>
                <a:cs typeface="Arial"/>
                <a:sym typeface="Arial"/>
              </a:rPr>
              <a:t>Example: "What are the top 5 selling categories?"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1"/>
          <p:cNvSpPr/>
          <p:nvPr/>
        </p:nvSpPr>
        <p:spPr>
          <a:xfrm>
            <a:off x="619125" y="2329904"/>
            <a:ext cx="806386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00"/>
              <a:buFont typeface="Arial"/>
              <a:buNone/>
            </a:pPr>
            <a:r>
              <a:rPr b="1" i="0" lang="en" sz="1100" u="none" cap="none" strike="noStrike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rPr>
              <a:t>GENERATED SQL (Step 3)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1"/>
          <p:cNvSpPr/>
          <p:nvPr/>
        </p:nvSpPr>
        <p:spPr>
          <a:xfrm>
            <a:off x="619125" y="2514005"/>
            <a:ext cx="7905750" cy="469702"/>
          </a:xfrm>
          <a:prstGeom prst="roundRect">
            <a:avLst>
              <a:gd fmla="val 10815" name="adj"/>
            </a:avLst>
          </a:prstGeom>
          <a:solidFill>
            <a:srgbClr val="1B26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1"/>
          <p:cNvSpPr/>
          <p:nvPr/>
        </p:nvSpPr>
        <p:spPr>
          <a:xfrm>
            <a:off x="746075" y="2615505"/>
            <a:ext cx="780488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900"/>
              <a:buFont typeface="Courier New"/>
              <a:buNone/>
            </a:pPr>
            <a:r>
              <a:rPr b="0" i="0" lang="en" sz="1000" u="none" cap="none" strike="noStrike">
                <a:solidFill>
                  <a:srgbClr val="00C49A"/>
                </a:solidFill>
                <a:latin typeface="Courier New"/>
                <a:ea typeface="Courier New"/>
                <a:cs typeface="Courier New"/>
                <a:sym typeface="Courier New"/>
              </a:rPr>
              <a:t>SELECT category, SUM(amount) as total_sales FROM amazon_sales WHERE amount IS NOT NULL GROUP BY category ORDER BY total_sales DESC LIMIT 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1"/>
          <p:cNvSpPr/>
          <p:nvPr/>
        </p:nvSpPr>
        <p:spPr>
          <a:xfrm>
            <a:off x="619125" y="3110657"/>
            <a:ext cx="806386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00"/>
              <a:buFont typeface="Arial"/>
              <a:buNone/>
            </a:pPr>
            <a:r>
              <a:rPr b="1" i="0" lang="en" sz="1000" u="none" cap="none" strike="noStrike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rPr>
              <a:t>FORMATTED RESPONSE (Step 5-6)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1"/>
          <p:cNvSpPr/>
          <p:nvPr/>
        </p:nvSpPr>
        <p:spPr>
          <a:xfrm>
            <a:off x="619125" y="3294757"/>
            <a:ext cx="806386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Arial"/>
              <a:buNone/>
            </a:pPr>
            <a:r>
              <a:rPr b="0" i="1" lang="en" sz="10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"Set category leads with Rs 45.2M (32% of total revenue), followed by Kurta at Rs 28.1M (20%). Western Dress shows highest growth potential with strong urban demand..."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1"/>
          <p:cNvSpPr/>
          <p:nvPr/>
        </p:nvSpPr>
        <p:spPr>
          <a:xfrm>
            <a:off x="381000" y="4146947"/>
            <a:ext cx="8382000" cy="552152"/>
          </a:xfrm>
          <a:prstGeom prst="roundRect">
            <a:avLst>
              <a:gd fmla="val 9200" name="adj"/>
            </a:avLst>
          </a:prstGeom>
          <a:solidFill>
            <a:srgbClr val="0F4C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1"/>
          <p:cNvSpPr/>
          <p:nvPr/>
        </p:nvSpPr>
        <p:spPr>
          <a:xfrm>
            <a:off x="963311" y="4248448"/>
            <a:ext cx="673406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200ms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1"/>
          <p:cNvSpPr/>
          <p:nvPr/>
        </p:nvSpPr>
        <p:spPr>
          <a:xfrm>
            <a:off x="963311" y="4483298"/>
            <a:ext cx="67340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BBE1FA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1"/>
          <p:cNvSpPr/>
          <p:nvPr/>
        </p:nvSpPr>
        <p:spPr>
          <a:xfrm>
            <a:off x="2495879" y="4248448"/>
            <a:ext cx="755836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1.2s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1"/>
          <p:cNvSpPr/>
          <p:nvPr/>
        </p:nvSpPr>
        <p:spPr>
          <a:xfrm>
            <a:off x="2495879" y="4483298"/>
            <a:ext cx="75583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BBE1FA"/>
                </a:solidFill>
                <a:latin typeface="Arial"/>
                <a:ea typeface="Arial"/>
                <a:cs typeface="Arial"/>
                <a:sym typeface="Arial"/>
              </a:rPr>
              <a:t>SQL GEN (LLM)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1"/>
          <p:cNvSpPr/>
          <p:nvPr/>
        </p:nvSpPr>
        <p:spPr>
          <a:xfrm>
            <a:off x="4109316" y="4248448"/>
            <a:ext cx="832649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50ms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1"/>
          <p:cNvSpPr/>
          <p:nvPr/>
        </p:nvSpPr>
        <p:spPr>
          <a:xfrm>
            <a:off x="4109316" y="4483298"/>
            <a:ext cx="83264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800"/>
              <a:buFont typeface="Arial"/>
              <a:buNone/>
            </a:pPr>
            <a:r>
              <a:rPr lang="en" sz="800">
                <a:solidFill>
                  <a:srgbClr val="BBE1FA"/>
                </a:solidFill>
              </a:rPr>
              <a:t>DUCK DB</a:t>
            </a:r>
            <a:r>
              <a:rPr b="0" i="0" lang="en" sz="800" u="none" cap="none" strike="noStrike">
                <a:solidFill>
                  <a:srgbClr val="BBE1FA"/>
                </a:solidFill>
                <a:latin typeface="Arial"/>
                <a:ea typeface="Arial"/>
                <a:cs typeface="Arial"/>
                <a:sym typeface="Arial"/>
              </a:rPr>
              <a:t> QUERY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1"/>
          <p:cNvSpPr/>
          <p:nvPr/>
        </p:nvSpPr>
        <p:spPr>
          <a:xfrm>
            <a:off x="5798399" y="4248448"/>
            <a:ext cx="8748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800ms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1"/>
          <p:cNvSpPr/>
          <p:nvPr/>
        </p:nvSpPr>
        <p:spPr>
          <a:xfrm>
            <a:off x="5798399" y="4483298"/>
            <a:ext cx="8748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BBE1FA"/>
                </a:solidFill>
                <a:latin typeface="Arial"/>
                <a:ea typeface="Arial"/>
                <a:cs typeface="Arial"/>
                <a:sym typeface="Arial"/>
              </a:rPr>
              <a:t>RESPONSE (LLM)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1"/>
          <p:cNvSpPr/>
          <p:nvPr/>
        </p:nvSpPr>
        <p:spPr>
          <a:xfrm>
            <a:off x="7531490" y="4248448"/>
            <a:ext cx="648358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2.3s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1"/>
          <p:cNvSpPr/>
          <p:nvPr/>
        </p:nvSpPr>
        <p:spPr>
          <a:xfrm>
            <a:off x="7531490" y="4483298"/>
            <a:ext cx="64835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BBE1FA"/>
                </a:solidFill>
                <a:latin typeface="Arial"/>
                <a:ea typeface="Arial"/>
                <a:cs typeface="Arial"/>
                <a:sym typeface="Arial"/>
              </a:rPr>
              <a:t>END-TO-END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2"/>
          <p:cNvSpPr/>
          <p:nvPr/>
        </p:nvSpPr>
        <p:spPr>
          <a:xfrm>
            <a:off x="0" y="0"/>
            <a:ext cx="9144000" cy="758726"/>
          </a:xfrm>
          <a:prstGeom prst="rect">
            <a:avLst/>
          </a:prstGeom>
          <a:solidFill>
            <a:srgbClr val="0F4C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2"/>
          <p:cNvSpPr/>
          <p:nvPr/>
        </p:nvSpPr>
        <p:spPr>
          <a:xfrm>
            <a:off x="507950" y="203150"/>
            <a:ext cx="829066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Engineering Approach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2"/>
          <p:cNvSpPr/>
          <p:nvPr/>
        </p:nvSpPr>
        <p:spPr>
          <a:xfrm>
            <a:off x="212600" y="949225"/>
            <a:ext cx="5045100" cy="3451500"/>
          </a:xfrm>
          <a:prstGeom prst="roundRect">
            <a:avLst>
              <a:gd fmla="val 2351" name="adj"/>
            </a:avLst>
          </a:prstGeom>
          <a:solidFill>
            <a:srgbClr val="FFFFFF"/>
          </a:solidFill>
          <a:ln cap="flat" cmpd="sng" w="9525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2"/>
          <p:cNvSpPr/>
          <p:nvPr/>
        </p:nvSpPr>
        <p:spPr>
          <a:xfrm>
            <a:off x="222454" y="959369"/>
            <a:ext cx="5025600" cy="341400"/>
          </a:xfrm>
          <a:prstGeom prst="rect">
            <a:avLst/>
          </a:prstGeom>
          <a:solidFill>
            <a:srgbClr val="0F4C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7" name="Google Shape;377;p22"/>
          <p:cNvCxnSpPr/>
          <p:nvPr/>
        </p:nvCxnSpPr>
        <p:spPr>
          <a:xfrm>
            <a:off x="222454" y="1295694"/>
            <a:ext cx="5025600" cy="0"/>
          </a:xfrm>
          <a:prstGeom prst="straightConnector1">
            <a:avLst/>
          </a:prstGeom>
          <a:noFill/>
          <a:ln cap="flat" cmpd="sng" w="9525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8" name="Google Shape;378;p22"/>
          <p:cNvSpPr/>
          <p:nvPr/>
        </p:nvSpPr>
        <p:spPr>
          <a:xfrm>
            <a:off x="353788" y="1053989"/>
            <a:ext cx="14190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2"/>
          <p:cNvSpPr/>
          <p:nvPr/>
        </p:nvSpPr>
        <p:spPr>
          <a:xfrm>
            <a:off x="2001743" y="1053989"/>
            <a:ext cx="6081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2"/>
          <p:cNvSpPr/>
          <p:nvPr/>
        </p:nvSpPr>
        <p:spPr>
          <a:xfrm>
            <a:off x="2860573" y="1053989"/>
            <a:ext cx="6081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Status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2"/>
          <p:cNvSpPr/>
          <p:nvPr/>
        </p:nvSpPr>
        <p:spPr>
          <a:xfrm>
            <a:off x="3725364" y="1053989"/>
            <a:ext cx="14190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Reason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2"/>
          <p:cNvSpPr/>
          <p:nvPr/>
        </p:nvSpPr>
        <p:spPr>
          <a:xfrm>
            <a:off x="222454" y="1300766"/>
            <a:ext cx="5025600" cy="48330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3" name="Google Shape;383;p22"/>
          <p:cNvCxnSpPr/>
          <p:nvPr/>
        </p:nvCxnSpPr>
        <p:spPr>
          <a:xfrm>
            <a:off x="222454" y="1779102"/>
            <a:ext cx="5025600" cy="0"/>
          </a:xfrm>
          <a:prstGeom prst="straightConnector1">
            <a:avLst/>
          </a:prstGeom>
          <a:noFill/>
          <a:ln cap="flat" cmpd="sng" w="9525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4" name="Google Shape;384;p22"/>
          <p:cNvSpPr/>
          <p:nvPr/>
        </p:nvSpPr>
        <p:spPr>
          <a:xfrm>
            <a:off x="353788" y="1395387"/>
            <a:ext cx="14190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900"/>
              <a:buFont typeface="Arial"/>
              <a:buNone/>
            </a:pPr>
            <a:r>
              <a:rPr b="1" i="0" lang="en" sz="11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Amazon Sale Report</a:t>
            </a:r>
            <a:endParaRPr b="0" i="0" sz="1100" u="none" cap="none" strike="noStrike">
              <a:solidFill>
                <a:srgbClr val="00C49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2"/>
          <p:cNvSpPr/>
          <p:nvPr/>
        </p:nvSpPr>
        <p:spPr>
          <a:xfrm>
            <a:off x="2001743" y="1395387"/>
            <a:ext cx="6081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900"/>
              <a:buFont typeface="Arial"/>
              <a:buNone/>
            </a:pPr>
            <a:r>
              <a:rPr b="1" i="0" lang="en" sz="11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128K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2"/>
          <p:cNvSpPr/>
          <p:nvPr/>
        </p:nvSpPr>
        <p:spPr>
          <a:xfrm>
            <a:off x="2860573" y="1395387"/>
            <a:ext cx="6081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900"/>
              <a:buFont typeface="Arial"/>
              <a:buNone/>
            </a:pPr>
            <a:r>
              <a:rPr b="1" i="0" lang="en" sz="11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2"/>
          <p:cNvSpPr/>
          <p:nvPr/>
        </p:nvSpPr>
        <p:spPr>
          <a:xfrm>
            <a:off x="3725364" y="1395387"/>
            <a:ext cx="14190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Clean schema, complete transactions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8" name="Google Shape;388;p22"/>
          <p:cNvCxnSpPr/>
          <p:nvPr/>
        </p:nvCxnSpPr>
        <p:spPr>
          <a:xfrm>
            <a:off x="222454" y="2262510"/>
            <a:ext cx="5025600" cy="0"/>
          </a:xfrm>
          <a:prstGeom prst="straightConnector1">
            <a:avLst/>
          </a:prstGeom>
          <a:noFill/>
          <a:ln cap="flat" cmpd="sng" w="9525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9" name="Google Shape;389;p22"/>
          <p:cNvSpPr/>
          <p:nvPr/>
        </p:nvSpPr>
        <p:spPr>
          <a:xfrm>
            <a:off x="353788" y="1878795"/>
            <a:ext cx="14190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Arial"/>
              <a:buNone/>
            </a:pPr>
            <a:r>
              <a:rPr b="0" i="0" lang="en" sz="10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International Sale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2"/>
          <p:cNvSpPr/>
          <p:nvPr/>
        </p:nvSpPr>
        <p:spPr>
          <a:xfrm>
            <a:off x="2001743" y="1878795"/>
            <a:ext cx="6081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Arial"/>
              <a:buNone/>
            </a:pPr>
            <a:r>
              <a:rPr b="0" i="0" lang="en" sz="10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37K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2"/>
          <p:cNvSpPr/>
          <p:nvPr/>
        </p:nvSpPr>
        <p:spPr>
          <a:xfrm>
            <a:off x="2860573" y="1878795"/>
            <a:ext cx="6081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900"/>
              <a:buFont typeface="Arial"/>
              <a:buNone/>
            </a:pPr>
            <a:r>
              <a:rPr b="0" i="0" lang="en" sz="1000" u="none" cap="none" strike="noStrike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2"/>
          <p:cNvSpPr/>
          <p:nvPr/>
        </p:nvSpPr>
        <p:spPr>
          <a:xfrm>
            <a:off x="3725364" y="1878795"/>
            <a:ext cx="14190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Arial"/>
              <a:buNone/>
            </a:pPr>
            <a:r>
              <a:rPr b="0" i="0" lang="en" sz="10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Mixed schemas, date mismatch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3" name="Google Shape;393;p22"/>
          <p:cNvCxnSpPr/>
          <p:nvPr/>
        </p:nvCxnSpPr>
        <p:spPr>
          <a:xfrm>
            <a:off x="222454" y="2745917"/>
            <a:ext cx="5025600" cy="0"/>
          </a:xfrm>
          <a:prstGeom prst="straightConnector1">
            <a:avLst/>
          </a:prstGeom>
          <a:noFill/>
          <a:ln cap="flat" cmpd="sng" w="9525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4" name="Google Shape;394;p22"/>
          <p:cNvSpPr/>
          <p:nvPr/>
        </p:nvSpPr>
        <p:spPr>
          <a:xfrm>
            <a:off x="353788" y="2362203"/>
            <a:ext cx="14190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Arial"/>
              <a:buNone/>
            </a:pPr>
            <a:r>
              <a:rPr b="0" i="0" lang="en" sz="10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Sale Report (Inventory)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2"/>
          <p:cNvSpPr/>
          <p:nvPr/>
        </p:nvSpPr>
        <p:spPr>
          <a:xfrm>
            <a:off x="2001743" y="2362203"/>
            <a:ext cx="6081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Arial"/>
              <a:buNone/>
            </a:pPr>
            <a:r>
              <a:rPr b="0" i="0" lang="en" sz="10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9K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2"/>
          <p:cNvSpPr/>
          <p:nvPr/>
        </p:nvSpPr>
        <p:spPr>
          <a:xfrm>
            <a:off x="2860573" y="2362203"/>
            <a:ext cx="6081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900"/>
              <a:buFont typeface="Arial"/>
              <a:buNone/>
            </a:pPr>
            <a:r>
              <a:rPr b="0" i="0" lang="en" sz="1000" u="none" cap="none" strike="noStrike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2"/>
          <p:cNvSpPr/>
          <p:nvPr/>
        </p:nvSpPr>
        <p:spPr>
          <a:xfrm>
            <a:off x="3725364" y="2362203"/>
            <a:ext cx="14190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Arial"/>
              <a:buNone/>
            </a:pPr>
            <a:r>
              <a:rPr b="0" i="0" lang="en" sz="10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No date column, different SKU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8" name="Google Shape;398;p22"/>
          <p:cNvCxnSpPr/>
          <p:nvPr/>
        </p:nvCxnSpPr>
        <p:spPr>
          <a:xfrm>
            <a:off x="222454" y="3229326"/>
            <a:ext cx="5025600" cy="0"/>
          </a:xfrm>
          <a:prstGeom prst="straightConnector1">
            <a:avLst/>
          </a:prstGeom>
          <a:noFill/>
          <a:ln cap="flat" cmpd="sng" w="9525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9" name="Google Shape;399;p22"/>
          <p:cNvSpPr/>
          <p:nvPr/>
        </p:nvSpPr>
        <p:spPr>
          <a:xfrm>
            <a:off x="353788" y="2845611"/>
            <a:ext cx="14190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Arial"/>
              <a:buNone/>
            </a:pPr>
            <a:r>
              <a:rPr b="0" i="0" lang="en" sz="10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May-2022 (Pricing)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2"/>
          <p:cNvSpPr/>
          <p:nvPr/>
        </p:nvSpPr>
        <p:spPr>
          <a:xfrm>
            <a:off x="2001743" y="2845611"/>
            <a:ext cx="6081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Arial"/>
              <a:buNone/>
            </a:pPr>
            <a:r>
              <a:rPr b="0" i="0" lang="en" sz="10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1.3K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2"/>
          <p:cNvSpPr/>
          <p:nvPr/>
        </p:nvSpPr>
        <p:spPr>
          <a:xfrm>
            <a:off x="2860573" y="2845611"/>
            <a:ext cx="6081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900"/>
              <a:buFont typeface="Arial"/>
              <a:buNone/>
            </a:pPr>
            <a:r>
              <a:rPr b="0" i="0" lang="en" sz="1000" u="none" cap="none" strike="noStrike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2"/>
          <p:cNvSpPr/>
          <p:nvPr/>
        </p:nvSpPr>
        <p:spPr>
          <a:xfrm>
            <a:off x="3725364" y="2845611"/>
            <a:ext cx="14190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Arial"/>
              <a:buNone/>
            </a:pPr>
            <a:r>
              <a:rPr b="0" i="0" lang="en" sz="10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Zero SKU overlap with sales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3" name="Google Shape;403;p22"/>
          <p:cNvCxnSpPr/>
          <p:nvPr/>
        </p:nvCxnSpPr>
        <p:spPr>
          <a:xfrm>
            <a:off x="222454" y="3570723"/>
            <a:ext cx="5025600" cy="0"/>
          </a:xfrm>
          <a:prstGeom prst="straightConnector1">
            <a:avLst/>
          </a:prstGeom>
          <a:noFill/>
          <a:ln cap="flat" cmpd="sng" w="9525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4" name="Google Shape;404;p22"/>
          <p:cNvSpPr/>
          <p:nvPr/>
        </p:nvSpPr>
        <p:spPr>
          <a:xfrm>
            <a:off x="353788" y="3329019"/>
            <a:ext cx="14190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Arial"/>
              <a:buNone/>
            </a:pPr>
            <a:r>
              <a:rPr b="0" i="0" lang="en" sz="10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P L March 2021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2"/>
          <p:cNvSpPr/>
          <p:nvPr/>
        </p:nvSpPr>
        <p:spPr>
          <a:xfrm>
            <a:off x="2001743" y="3329019"/>
            <a:ext cx="6081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Arial"/>
              <a:buNone/>
            </a:pPr>
            <a:r>
              <a:rPr b="0" i="0" lang="en" sz="10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1.3K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2"/>
          <p:cNvSpPr/>
          <p:nvPr/>
        </p:nvSpPr>
        <p:spPr>
          <a:xfrm>
            <a:off x="2860573" y="3329019"/>
            <a:ext cx="6081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900"/>
              <a:buFont typeface="Arial"/>
              <a:buNone/>
            </a:pPr>
            <a:r>
              <a:rPr b="0" i="0" lang="en" sz="1000" u="none" cap="none" strike="noStrike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2"/>
          <p:cNvSpPr/>
          <p:nvPr/>
        </p:nvSpPr>
        <p:spPr>
          <a:xfrm>
            <a:off x="3725364" y="3329019"/>
            <a:ext cx="14190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Arial"/>
              <a:buNone/>
            </a:pPr>
            <a:r>
              <a:rPr b="0" i="0" lang="en" sz="10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Duplicate pricing 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8" name="Google Shape;408;p22"/>
          <p:cNvCxnSpPr/>
          <p:nvPr/>
        </p:nvCxnSpPr>
        <p:spPr>
          <a:xfrm>
            <a:off x="222454" y="3912120"/>
            <a:ext cx="5025600" cy="0"/>
          </a:xfrm>
          <a:prstGeom prst="straightConnector1">
            <a:avLst/>
          </a:prstGeom>
          <a:noFill/>
          <a:ln cap="flat" cmpd="sng" w="9525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9" name="Google Shape;409;p22"/>
          <p:cNvSpPr/>
          <p:nvPr/>
        </p:nvSpPr>
        <p:spPr>
          <a:xfrm>
            <a:off x="353788" y="3670416"/>
            <a:ext cx="14190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Arial"/>
              <a:buNone/>
            </a:pPr>
            <a:r>
              <a:rPr b="0" i="0" lang="en" sz="10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Cloud Warehouse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2"/>
          <p:cNvSpPr/>
          <p:nvPr/>
        </p:nvSpPr>
        <p:spPr>
          <a:xfrm>
            <a:off x="2001743" y="3670416"/>
            <a:ext cx="6081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Arial"/>
              <a:buNone/>
            </a:pPr>
            <a:r>
              <a:rPr b="0" i="0" lang="en" sz="10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51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2"/>
          <p:cNvSpPr/>
          <p:nvPr/>
        </p:nvSpPr>
        <p:spPr>
          <a:xfrm>
            <a:off x="2860573" y="3670416"/>
            <a:ext cx="6081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900"/>
              <a:buFont typeface="Arial"/>
              <a:buNone/>
            </a:pPr>
            <a:r>
              <a:rPr b="0" i="0" lang="en" sz="1000" u="none" cap="none" strike="noStrike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2"/>
          <p:cNvSpPr/>
          <p:nvPr/>
        </p:nvSpPr>
        <p:spPr>
          <a:xfrm>
            <a:off x="3725364" y="3670416"/>
            <a:ext cx="14190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Arial"/>
              <a:buNone/>
            </a:pPr>
            <a:r>
              <a:rPr b="0" i="0" lang="en" sz="10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Not tabular - process doc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2"/>
          <p:cNvSpPr/>
          <p:nvPr/>
        </p:nvSpPr>
        <p:spPr>
          <a:xfrm>
            <a:off x="353788" y="4011814"/>
            <a:ext cx="14190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Arial"/>
              <a:buNone/>
            </a:pPr>
            <a:r>
              <a:rPr b="0" i="0" lang="en" sz="10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Expense IIGF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2"/>
          <p:cNvSpPr/>
          <p:nvPr/>
        </p:nvSpPr>
        <p:spPr>
          <a:xfrm>
            <a:off x="2001743" y="4011814"/>
            <a:ext cx="6081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Arial"/>
              <a:buNone/>
            </a:pPr>
            <a:r>
              <a:rPr b="0" i="0" lang="en" sz="10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2"/>
          <p:cNvSpPr/>
          <p:nvPr/>
        </p:nvSpPr>
        <p:spPr>
          <a:xfrm>
            <a:off x="2860573" y="4011814"/>
            <a:ext cx="6081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900"/>
              <a:buFont typeface="Arial"/>
              <a:buNone/>
            </a:pPr>
            <a:r>
              <a:rPr b="0" i="0" lang="en" sz="1000" u="none" cap="none" strike="noStrike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2"/>
          <p:cNvSpPr/>
          <p:nvPr/>
        </p:nvSpPr>
        <p:spPr>
          <a:xfrm>
            <a:off x="3725364" y="4011814"/>
            <a:ext cx="14190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Arial"/>
              <a:buNone/>
            </a:pPr>
            <a:r>
              <a:rPr b="0" i="0" lang="en" sz="10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Not tabular - expense sheet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2"/>
          <p:cNvSpPr/>
          <p:nvPr/>
        </p:nvSpPr>
        <p:spPr>
          <a:xfrm>
            <a:off x="5511650" y="815825"/>
            <a:ext cx="3251400" cy="2130600"/>
          </a:xfrm>
          <a:prstGeom prst="roundRect">
            <a:avLst>
              <a:gd fmla="val 3261" name="adj"/>
            </a:avLst>
          </a:prstGeom>
          <a:solidFill>
            <a:srgbClr val="1B26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2"/>
          <p:cNvSpPr/>
          <p:nvPr/>
        </p:nvSpPr>
        <p:spPr>
          <a:xfrm>
            <a:off x="5689402" y="1101626"/>
            <a:ext cx="295381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amazon_sales Schema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2"/>
          <p:cNvSpPr/>
          <p:nvPr/>
        </p:nvSpPr>
        <p:spPr>
          <a:xfrm>
            <a:off x="5689402" y="1355527"/>
            <a:ext cx="118149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900"/>
              <a:buFont typeface="Courier New"/>
              <a:buNone/>
            </a:pPr>
            <a:r>
              <a:rPr b="0" i="0" lang="en" sz="1100" u="none" cap="none" strike="noStrike">
                <a:solidFill>
                  <a:srgbClr val="F39C12"/>
                </a:solidFill>
                <a:latin typeface="Courier New"/>
                <a:ea typeface="Courier New"/>
                <a:cs typeface="Courier New"/>
                <a:sym typeface="Courier New"/>
              </a:rPr>
              <a:t>order_id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2"/>
          <p:cNvSpPr/>
          <p:nvPr/>
        </p:nvSpPr>
        <p:spPr>
          <a:xfrm>
            <a:off x="6847731" y="1355527"/>
            <a:ext cx="177232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00"/>
              <a:buFont typeface="Arial"/>
              <a:buNone/>
            </a:pPr>
            <a:r>
              <a:rPr b="0" i="0" lang="en" sz="1100" u="none" cap="none" strike="noStrike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rPr>
              <a:t>VARCHAR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2"/>
          <p:cNvSpPr/>
          <p:nvPr/>
        </p:nvSpPr>
        <p:spPr>
          <a:xfrm>
            <a:off x="5689402" y="1526977"/>
            <a:ext cx="118149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900"/>
              <a:buFont typeface="Courier New"/>
              <a:buNone/>
            </a:pPr>
            <a:r>
              <a:rPr b="0" i="0" lang="en" sz="1100" u="none" cap="none" strike="noStrike">
                <a:solidFill>
                  <a:srgbClr val="F39C12"/>
                </a:solidFill>
                <a:latin typeface="Courier New"/>
                <a:ea typeface="Courier New"/>
                <a:cs typeface="Courier New"/>
                <a:sym typeface="Courier New"/>
              </a:rPr>
              <a:t>order_date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6847731" y="1526977"/>
            <a:ext cx="177232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00"/>
              <a:buFont typeface="Arial"/>
              <a:buNone/>
            </a:pPr>
            <a:r>
              <a:rPr b="0" i="0" lang="en" sz="1100" u="none" cap="none" strike="noStrike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2"/>
          <p:cNvSpPr/>
          <p:nvPr/>
        </p:nvSpPr>
        <p:spPr>
          <a:xfrm>
            <a:off x="5689402" y="1698427"/>
            <a:ext cx="118149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900"/>
              <a:buFont typeface="Courier New"/>
              <a:buNone/>
            </a:pPr>
            <a:r>
              <a:rPr b="0" i="0" lang="en" sz="1100" u="none" cap="none" strike="noStrike">
                <a:solidFill>
                  <a:srgbClr val="F39C12"/>
                </a:solidFill>
                <a:latin typeface="Courier New"/>
                <a:ea typeface="Courier New"/>
                <a:cs typeface="Courier New"/>
                <a:sym typeface="Courier New"/>
              </a:rPr>
              <a:t>status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2"/>
          <p:cNvSpPr/>
          <p:nvPr/>
        </p:nvSpPr>
        <p:spPr>
          <a:xfrm>
            <a:off x="6847731" y="1698427"/>
            <a:ext cx="177232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00"/>
              <a:buFont typeface="Arial"/>
              <a:buNone/>
            </a:pPr>
            <a:r>
              <a:rPr b="0" i="0" lang="en" sz="1100" u="none" cap="none" strike="noStrike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rPr>
              <a:t>VARCHAR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2"/>
          <p:cNvSpPr/>
          <p:nvPr/>
        </p:nvSpPr>
        <p:spPr>
          <a:xfrm>
            <a:off x="5689402" y="1869877"/>
            <a:ext cx="118149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900"/>
              <a:buFont typeface="Courier New"/>
              <a:buNone/>
            </a:pPr>
            <a:r>
              <a:rPr b="0" i="0" lang="en" sz="1100" u="none" cap="none" strike="noStrike">
                <a:solidFill>
                  <a:srgbClr val="F39C12"/>
                </a:solidFill>
                <a:latin typeface="Courier New"/>
                <a:ea typeface="Courier New"/>
                <a:cs typeface="Courier New"/>
                <a:sym typeface="Courier New"/>
              </a:rPr>
              <a:t>category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2"/>
          <p:cNvSpPr/>
          <p:nvPr/>
        </p:nvSpPr>
        <p:spPr>
          <a:xfrm>
            <a:off x="6847731" y="1869877"/>
            <a:ext cx="177232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00"/>
              <a:buFont typeface="Arial"/>
              <a:buNone/>
            </a:pPr>
            <a:r>
              <a:rPr b="0" i="0" lang="en" sz="1100" u="none" cap="none" strike="noStrike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rPr>
              <a:t>VARCHAR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2"/>
          <p:cNvSpPr/>
          <p:nvPr/>
        </p:nvSpPr>
        <p:spPr>
          <a:xfrm>
            <a:off x="5689402" y="2041327"/>
            <a:ext cx="118149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900"/>
              <a:buFont typeface="Courier New"/>
              <a:buNone/>
            </a:pPr>
            <a:r>
              <a:rPr b="0" i="0" lang="en" sz="1100" u="none" cap="none" strike="noStrike">
                <a:solidFill>
                  <a:srgbClr val="F39C12"/>
                </a:solidFill>
                <a:latin typeface="Courier New"/>
                <a:ea typeface="Courier New"/>
                <a:cs typeface="Courier New"/>
                <a:sym typeface="Courier New"/>
              </a:rPr>
              <a:t>amount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2"/>
          <p:cNvSpPr/>
          <p:nvPr/>
        </p:nvSpPr>
        <p:spPr>
          <a:xfrm>
            <a:off x="6847731" y="2041327"/>
            <a:ext cx="177232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00"/>
              <a:buFont typeface="Arial"/>
              <a:buNone/>
            </a:pPr>
            <a:r>
              <a:rPr b="0" i="0" lang="en" sz="1100" u="none" cap="none" strike="noStrike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rPr>
              <a:t>DECIMAL (nullable)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2"/>
          <p:cNvSpPr/>
          <p:nvPr/>
        </p:nvSpPr>
        <p:spPr>
          <a:xfrm>
            <a:off x="5689402" y="2212777"/>
            <a:ext cx="118149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900"/>
              <a:buFont typeface="Courier New"/>
              <a:buNone/>
            </a:pPr>
            <a:r>
              <a:rPr b="0" i="0" lang="en" sz="1100" u="none" cap="none" strike="noStrike">
                <a:solidFill>
                  <a:srgbClr val="F39C12"/>
                </a:solidFill>
                <a:latin typeface="Courier New"/>
                <a:ea typeface="Courier New"/>
                <a:cs typeface="Courier New"/>
                <a:sym typeface="Courier New"/>
              </a:rPr>
              <a:t>city, state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2"/>
          <p:cNvSpPr/>
          <p:nvPr/>
        </p:nvSpPr>
        <p:spPr>
          <a:xfrm>
            <a:off x="6847731" y="2212777"/>
            <a:ext cx="177232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00"/>
              <a:buFont typeface="Arial"/>
              <a:buNone/>
            </a:pPr>
            <a:r>
              <a:rPr b="0" i="0" lang="en" sz="1100" u="none" cap="none" strike="noStrike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rPr>
              <a:t>VARCHAR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2"/>
          <p:cNvSpPr/>
          <p:nvPr/>
        </p:nvSpPr>
        <p:spPr>
          <a:xfrm>
            <a:off x="5689402" y="2384227"/>
            <a:ext cx="118149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900"/>
              <a:buFont typeface="Courier New"/>
              <a:buNone/>
            </a:pPr>
            <a:r>
              <a:rPr b="0" i="0" lang="en" sz="1100" u="none" cap="none" strike="noStrike">
                <a:solidFill>
                  <a:srgbClr val="F39C12"/>
                </a:solidFill>
                <a:latin typeface="Courier New"/>
                <a:ea typeface="Courier New"/>
                <a:cs typeface="Courier New"/>
                <a:sym typeface="Courier New"/>
              </a:rPr>
              <a:t>is_b2b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2"/>
          <p:cNvSpPr/>
          <p:nvPr/>
        </p:nvSpPr>
        <p:spPr>
          <a:xfrm>
            <a:off x="6847731" y="2384227"/>
            <a:ext cx="177232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00"/>
              <a:buFont typeface="Arial"/>
              <a:buNone/>
            </a:pPr>
            <a:r>
              <a:rPr b="0" i="0" lang="en" sz="1100" u="none" cap="none" strike="noStrike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rPr>
              <a:t>BOOLEAN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2"/>
          <p:cNvSpPr/>
          <p:nvPr/>
        </p:nvSpPr>
        <p:spPr>
          <a:xfrm>
            <a:off x="5511651" y="3114378"/>
            <a:ext cx="3251400" cy="1286400"/>
          </a:xfrm>
          <a:prstGeom prst="roundRect">
            <a:avLst>
              <a:gd fmla="val 5924" name="adj"/>
            </a:avLst>
          </a:prstGeom>
          <a:solidFill>
            <a:srgbClr val="FFFFFF"/>
          </a:solidFill>
          <a:ln cap="flat" cmpd="sng" w="9525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2"/>
          <p:cNvSpPr/>
          <p:nvPr/>
        </p:nvSpPr>
        <p:spPr>
          <a:xfrm>
            <a:off x="5698877" y="3276303"/>
            <a:ext cx="29343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Design Decisions</a:t>
            </a:r>
            <a:endParaRPr b="0" i="0" sz="1100" u="none" cap="none" strike="noStrike">
              <a:solidFill>
                <a:srgbClr val="00C49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2"/>
          <p:cNvSpPr/>
          <p:nvPr/>
        </p:nvSpPr>
        <p:spPr>
          <a:xfrm>
            <a:off x="5698877" y="3530204"/>
            <a:ext cx="2934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Column mapping: ship-city to city for clean SQL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2"/>
          <p:cNvSpPr/>
          <p:nvPr/>
        </p:nvSpPr>
        <p:spPr>
          <a:xfrm>
            <a:off x="5698877" y="3766394"/>
            <a:ext cx="2934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Nulls in amount = cancelled orders (valid data)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2"/>
          <p:cNvSpPr/>
          <p:nvPr/>
        </p:nvSpPr>
        <p:spPr>
          <a:xfrm>
            <a:off x="5698877" y="4002584"/>
            <a:ext cx="2934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No ETL needed - data is clean enough for demo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3"/>
          <p:cNvSpPr/>
          <p:nvPr/>
        </p:nvSpPr>
        <p:spPr>
          <a:xfrm>
            <a:off x="0" y="0"/>
            <a:ext cx="9144000" cy="968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3"/>
          <p:cNvSpPr/>
          <p:nvPr/>
        </p:nvSpPr>
        <p:spPr>
          <a:xfrm>
            <a:off x="507950" y="203150"/>
            <a:ext cx="82908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Scaling to 100GB+ Dataset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3"/>
          <p:cNvSpPr/>
          <p:nvPr/>
        </p:nvSpPr>
        <p:spPr>
          <a:xfrm>
            <a:off x="507950" y="593675"/>
            <a:ext cx="8290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Multi-Cloud Enterprise Architecture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3"/>
          <p:cNvSpPr/>
          <p:nvPr/>
        </p:nvSpPr>
        <p:spPr>
          <a:xfrm>
            <a:off x="381000" y="1158776"/>
            <a:ext cx="1952700" cy="354030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7" name="Google Shape;447;p23"/>
          <p:cNvCxnSpPr/>
          <p:nvPr/>
        </p:nvCxnSpPr>
        <p:spPr>
          <a:xfrm>
            <a:off x="381000" y="1182588"/>
            <a:ext cx="1952700" cy="0"/>
          </a:xfrm>
          <a:prstGeom prst="straightConnector1">
            <a:avLst/>
          </a:prstGeom>
          <a:noFill/>
          <a:ln cap="flat" cmpd="sng" w="47625">
            <a:solidFill>
              <a:srgbClr val="3282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8" name="Google Shape;448;p23"/>
          <p:cNvSpPr/>
          <p:nvPr/>
        </p:nvSpPr>
        <p:spPr>
          <a:xfrm>
            <a:off x="533400" y="1358801"/>
            <a:ext cx="1680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rPr>
              <a:t>A. DATA INGESTION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3"/>
          <p:cNvSpPr/>
          <p:nvPr/>
        </p:nvSpPr>
        <p:spPr>
          <a:xfrm>
            <a:off x="533400" y="1511201"/>
            <a:ext cx="16809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2C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B262C"/>
                </a:solidFill>
                <a:latin typeface="Arial"/>
                <a:ea typeface="Arial"/>
                <a:cs typeface="Arial"/>
                <a:sym typeface="Arial"/>
              </a:rPr>
              <a:t>ETL Pipeline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3"/>
          <p:cNvSpPr/>
          <p:nvPr/>
        </p:nvSpPr>
        <p:spPr>
          <a:xfrm>
            <a:off x="533400" y="1809601"/>
            <a:ext cx="16809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F4C75"/>
                </a:solidFill>
                <a:latin typeface="Arial"/>
                <a:ea typeface="Arial"/>
                <a:cs typeface="Arial"/>
                <a:sym typeface="Arial"/>
              </a:rPr>
              <a:t>Azure Blob / GCS</a:t>
            </a:r>
            <a:r>
              <a:rPr b="0" i="0" lang="en" sz="9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 Landing zone for raw files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3"/>
          <p:cNvSpPr/>
          <p:nvPr/>
        </p:nvSpPr>
        <p:spPr>
          <a:xfrm>
            <a:off x="533400" y="2263973"/>
            <a:ext cx="16809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F4C75"/>
                </a:solidFill>
                <a:latin typeface="Arial"/>
                <a:ea typeface="Arial"/>
                <a:cs typeface="Arial"/>
                <a:sym typeface="Arial"/>
              </a:rPr>
              <a:t>ADF / Dataflow</a:t>
            </a:r>
            <a:r>
              <a:rPr b="0" i="0" lang="en" sz="9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 ETL orchestration &amp; processing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3"/>
          <p:cNvSpPr/>
          <p:nvPr/>
        </p:nvSpPr>
        <p:spPr>
          <a:xfrm>
            <a:off x="533400" y="2718346"/>
            <a:ext cx="16809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F4C75"/>
                </a:solidFill>
                <a:latin typeface="Arial"/>
                <a:ea typeface="Arial"/>
                <a:cs typeface="Arial"/>
                <a:sym typeface="Arial"/>
              </a:rPr>
              <a:t>Databricks</a:t>
            </a:r>
            <a:r>
              <a:rPr b="0" i="0" lang="en" sz="9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 PySpark for transformations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3"/>
          <p:cNvSpPr/>
          <p:nvPr/>
        </p:nvSpPr>
        <p:spPr>
          <a:xfrm>
            <a:off x="516925" y="3315593"/>
            <a:ext cx="16809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F4C75"/>
                </a:solidFill>
                <a:latin typeface="Arial"/>
                <a:ea typeface="Arial"/>
                <a:cs typeface="Arial"/>
                <a:sym typeface="Arial"/>
              </a:rPr>
              <a:t>Schema Validation</a:t>
            </a:r>
            <a:r>
              <a:rPr b="0" i="0" lang="en" sz="9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 Data quality checks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3"/>
          <p:cNvSpPr/>
          <p:nvPr/>
        </p:nvSpPr>
        <p:spPr>
          <a:xfrm>
            <a:off x="2524125" y="1158776"/>
            <a:ext cx="1952700" cy="354030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5" name="Google Shape;455;p23"/>
          <p:cNvCxnSpPr/>
          <p:nvPr/>
        </p:nvCxnSpPr>
        <p:spPr>
          <a:xfrm>
            <a:off x="2524125" y="1182588"/>
            <a:ext cx="1952700" cy="0"/>
          </a:xfrm>
          <a:prstGeom prst="straightConnector1">
            <a:avLst/>
          </a:prstGeom>
          <a:noFill/>
          <a:ln cap="flat" cmpd="sng" w="47625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6" name="Google Shape;456;p23"/>
          <p:cNvSpPr/>
          <p:nvPr/>
        </p:nvSpPr>
        <p:spPr>
          <a:xfrm>
            <a:off x="2676525" y="1358801"/>
            <a:ext cx="1680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rPr>
              <a:t>B. STORAGE LAYER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3"/>
          <p:cNvSpPr/>
          <p:nvPr/>
        </p:nvSpPr>
        <p:spPr>
          <a:xfrm>
            <a:off x="2676525" y="1511201"/>
            <a:ext cx="16809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2C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B262C"/>
                </a:solidFill>
                <a:latin typeface="Arial"/>
                <a:ea typeface="Arial"/>
                <a:cs typeface="Arial"/>
                <a:sym typeface="Arial"/>
              </a:rPr>
              <a:t>Data Platform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3"/>
          <p:cNvSpPr/>
          <p:nvPr/>
        </p:nvSpPr>
        <p:spPr>
          <a:xfrm>
            <a:off x="2676525" y="1809601"/>
            <a:ext cx="16809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F4C75"/>
                </a:solidFill>
                <a:latin typeface="Arial"/>
                <a:ea typeface="Arial"/>
                <a:cs typeface="Arial"/>
                <a:sym typeface="Arial"/>
              </a:rPr>
              <a:t>Synapse / BigQuery</a:t>
            </a:r>
            <a:r>
              <a:rPr b="0" i="0" lang="en" sz="9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 Analytics warehouse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3"/>
          <p:cNvSpPr/>
          <p:nvPr/>
        </p:nvSpPr>
        <p:spPr>
          <a:xfrm>
            <a:off x="2676525" y="2263973"/>
            <a:ext cx="16809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F4C75"/>
                </a:solidFill>
                <a:latin typeface="Arial"/>
                <a:ea typeface="Arial"/>
                <a:cs typeface="Arial"/>
                <a:sym typeface="Arial"/>
              </a:rPr>
              <a:t>Partitioning</a:t>
            </a:r>
            <a:r>
              <a:rPr b="0" i="0" lang="en" sz="9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 By date for query efficiency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3"/>
          <p:cNvSpPr/>
          <p:nvPr/>
        </p:nvSpPr>
        <p:spPr>
          <a:xfrm>
            <a:off x="2676525" y="2718346"/>
            <a:ext cx="168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F4C75"/>
                </a:solidFill>
                <a:latin typeface="Arial"/>
                <a:ea typeface="Arial"/>
                <a:cs typeface="Arial"/>
                <a:sym typeface="Arial"/>
              </a:rPr>
              <a:t>Clustering</a:t>
            </a:r>
            <a:r>
              <a:rPr b="0" i="0" lang="en" sz="9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 By category, state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3"/>
          <p:cNvSpPr/>
          <p:nvPr/>
        </p:nvSpPr>
        <p:spPr>
          <a:xfrm>
            <a:off x="2659988" y="3155603"/>
            <a:ext cx="16809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F4C75"/>
                </a:solidFill>
                <a:latin typeface="Arial"/>
                <a:ea typeface="Arial"/>
                <a:cs typeface="Arial"/>
                <a:sym typeface="Arial"/>
              </a:rPr>
              <a:t>Parquet</a:t>
            </a:r>
            <a:r>
              <a:rPr b="0" i="0" lang="en" sz="9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 Columnar format for OLAP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3"/>
          <p:cNvSpPr/>
          <p:nvPr/>
        </p:nvSpPr>
        <p:spPr>
          <a:xfrm>
            <a:off x="4667250" y="1158776"/>
            <a:ext cx="1952700" cy="354030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3" name="Google Shape;463;p23"/>
          <p:cNvCxnSpPr/>
          <p:nvPr/>
        </p:nvCxnSpPr>
        <p:spPr>
          <a:xfrm>
            <a:off x="4667250" y="1182588"/>
            <a:ext cx="1952700" cy="0"/>
          </a:xfrm>
          <a:prstGeom prst="straightConnector1">
            <a:avLst/>
          </a:prstGeom>
          <a:noFill/>
          <a:ln cap="flat" cmpd="sng" w="47625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4" name="Google Shape;464;p23"/>
          <p:cNvSpPr/>
          <p:nvPr/>
        </p:nvSpPr>
        <p:spPr>
          <a:xfrm>
            <a:off x="4819650" y="1358801"/>
            <a:ext cx="1680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rPr>
              <a:t>C. QUERY EFFICIENCY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3"/>
          <p:cNvSpPr/>
          <p:nvPr/>
        </p:nvSpPr>
        <p:spPr>
          <a:xfrm>
            <a:off x="4819650" y="1511201"/>
            <a:ext cx="16809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2C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B262C"/>
                </a:solidFill>
                <a:latin typeface="Arial"/>
                <a:ea typeface="Arial"/>
                <a:cs typeface="Arial"/>
                <a:sym typeface="Arial"/>
              </a:rPr>
              <a:t>Smart Retrieval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3"/>
          <p:cNvSpPr/>
          <p:nvPr/>
        </p:nvSpPr>
        <p:spPr>
          <a:xfrm>
            <a:off x="4819650" y="1809601"/>
            <a:ext cx="16809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F4C75"/>
                </a:solidFill>
                <a:latin typeface="Arial"/>
                <a:ea typeface="Arial"/>
                <a:cs typeface="Arial"/>
                <a:sym typeface="Arial"/>
              </a:rPr>
              <a:t>RAG</a:t>
            </a:r>
            <a:r>
              <a:rPr b="0" i="0" lang="en" sz="9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 Schema embeddings in vector DB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3"/>
          <p:cNvSpPr/>
          <p:nvPr/>
        </p:nvSpPr>
        <p:spPr>
          <a:xfrm>
            <a:off x="4819650" y="2263973"/>
            <a:ext cx="16809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F4C75"/>
                </a:solidFill>
                <a:latin typeface="Arial"/>
                <a:ea typeface="Arial"/>
                <a:cs typeface="Arial"/>
                <a:sym typeface="Arial"/>
              </a:rPr>
              <a:t>Pinecone</a:t>
            </a:r>
            <a:r>
              <a:rPr b="0" i="0" lang="en" sz="9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 Semantic table discovery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3"/>
          <p:cNvSpPr/>
          <p:nvPr/>
        </p:nvSpPr>
        <p:spPr>
          <a:xfrm>
            <a:off x="4819650" y="2718346"/>
            <a:ext cx="16809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F4C75"/>
                </a:solidFill>
                <a:latin typeface="Arial"/>
                <a:ea typeface="Arial"/>
                <a:cs typeface="Arial"/>
                <a:sym typeface="Arial"/>
              </a:rPr>
              <a:t>Metadata Filtering</a:t>
            </a:r>
            <a:r>
              <a:rPr b="0" i="0" lang="en" sz="9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 Date/category pre-filters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3"/>
          <p:cNvSpPr/>
          <p:nvPr/>
        </p:nvSpPr>
        <p:spPr>
          <a:xfrm>
            <a:off x="4803175" y="3198168"/>
            <a:ext cx="16809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F4C75"/>
                </a:solidFill>
                <a:latin typeface="Arial"/>
                <a:ea typeface="Arial"/>
                <a:cs typeface="Arial"/>
                <a:sym typeface="Arial"/>
              </a:rPr>
              <a:t>Redis</a:t>
            </a:r>
            <a:r>
              <a:rPr b="0" i="0" lang="en" sz="9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 Query result cache (60% hit rate)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3"/>
          <p:cNvSpPr/>
          <p:nvPr/>
        </p:nvSpPr>
        <p:spPr>
          <a:xfrm>
            <a:off x="6810375" y="1158776"/>
            <a:ext cx="1952700" cy="354030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1" name="Google Shape;471;p23"/>
          <p:cNvCxnSpPr/>
          <p:nvPr/>
        </p:nvCxnSpPr>
        <p:spPr>
          <a:xfrm>
            <a:off x="6810375" y="1182588"/>
            <a:ext cx="1952700" cy="0"/>
          </a:xfrm>
          <a:prstGeom prst="straightConnector1">
            <a:avLst/>
          </a:prstGeom>
          <a:noFill/>
          <a:ln cap="flat" cmpd="sng" w="47625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2" name="Google Shape;472;p23"/>
          <p:cNvSpPr/>
          <p:nvPr/>
        </p:nvSpPr>
        <p:spPr>
          <a:xfrm>
            <a:off x="6962775" y="1358801"/>
            <a:ext cx="1680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rPr>
              <a:t>D. LLM AT SCALE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3"/>
          <p:cNvSpPr/>
          <p:nvPr/>
        </p:nvSpPr>
        <p:spPr>
          <a:xfrm>
            <a:off x="6962775" y="1511201"/>
            <a:ext cx="16809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2C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B262C"/>
                </a:solidFill>
                <a:latin typeface="Arial"/>
                <a:ea typeface="Arial"/>
                <a:cs typeface="Arial"/>
                <a:sym typeface="Arial"/>
              </a:rPr>
              <a:t>Optimization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3"/>
          <p:cNvSpPr/>
          <p:nvPr/>
        </p:nvSpPr>
        <p:spPr>
          <a:xfrm>
            <a:off x="6962775" y="1809601"/>
            <a:ext cx="16809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F4C75"/>
                </a:solidFill>
                <a:latin typeface="Arial"/>
                <a:ea typeface="Arial"/>
                <a:cs typeface="Arial"/>
                <a:sym typeface="Arial"/>
              </a:rPr>
              <a:t>Gemini Flash</a:t>
            </a:r>
            <a:r>
              <a:rPr b="0" i="0" lang="en" sz="9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 Simple queries (low cost)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3"/>
          <p:cNvSpPr/>
          <p:nvPr/>
        </p:nvSpPr>
        <p:spPr>
          <a:xfrm>
            <a:off x="6962775" y="2263973"/>
            <a:ext cx="16809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F4C75"/>
                </a:solidFill>
                <a:latin typeface="Arial"/>
                <a:ea typeface="Arial"/>
                <a:cs typeface="Arial"/>
                <a:sym typeface="Arial"/>
              </a:rPr>
              <a:t>Gemini Pro</a:t>
            </a:r>
            <a:r>
              <a:rPr b="0" i="0" lang="en" sz="9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 Complex reasoning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3"/>
          <p:cNvSpPr/>
          <p:nvPr/>
        </p:nvSpPr>
        <p:spPr>
          <a:xfrm>
            <a:off x="6962775" y="2718346"/>
            <a:ext cx="168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F4C75"/>
                </a:solidFill>
                <a:latin typeface="Arial"/>
                <a:ea typeface="Arial"/>
                <a:cs typeface="Arial"/>
                <a:sym typeface="Arial"/>
              </a:rPr>
              <a:t>GPT-4o</a:t>
            </a:r>
            <a:r>
              <a:rPr b="0" i="0" lang="en" sz="9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 SQL generation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3"/>
          <p:cNvSpPr/>
          <p:nvPr/>
        </p:nvSpPr>
        <p:spPr>
          <a:xfrm>
            <a:off x="6946225" y="3155566"/>
            <a:ext cx="16809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F4C75"/>
                </a:solidFill>
                <a:latin typeface="Arial"/>
                <a:ea typeface="Arial"/>
                <a:cs typeface="Arial"/>
                <a:sym typeface="Arial"/>
              </a:rPr>
              <a:t>Token Budget</a:t>
            </a:r>
            <a:r>
              <a:rPr b="0" i="0" lang="en" sz="9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 Max 4K tokens/query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62C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4"/>
          <p:cNvSpPr/>
          <p:nvPr/>
        </p:nvSpPr>
        <p:spPr>
          <a:xfrm>
            <a:off x="507950" y="228600"/>
            <a:ext cx="82908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100GB+ Data Flow Architecture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4"/>
          <p:cNvSpPr/>
          <p:nvPr/>
        </p:nvSpPr>
        <p:spPr>
          <a:xfrm>
            <a:off x="507950" y="619125"/>
            <a:ext cx="8290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rPr>
              <a:t>Source → ETL → Warehouse → PySpark → Agent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4"/>
          <p:cNvSpPr/>
          <p:nvPr/>
        </p:nvSpPr>
        <p:spPr>
          <a:xfrm>
            <a:off x="411850" y="1358875"/>
            <a:ext cx="1220100" cy="882300"/>
          </a:xfrm>
          <a:prstGeom prst="roundRect">
            <a:avLst>
              <a:gd fmla="val 6026" name="adj"/>
            </a:avLst>
          </a:prstGeom>
          <a:solidFill>
            <a:srgbClr val="E74C3C"/>
          </a:solidFill>
          <a:ln cap="flat" cmpd="sng" w="1905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4"/>
          <p:cNvSpPr/>
          <p:nvPr/>
        </p:nvSpPr>
        <p:spPr>
          <a:xfrm>
            <a:off x="547025" y="1538200"/>
            <a:ext cx="9879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Source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4"/>
          <p:cNvSpPr/>
          <p:nvPr/>
        </p:nvSpPr>
        <p:spPr>
          <a:xfrm>
            <a:off x="732269" y="1842814"/>
            <a:ext cx="6174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CSV / Parquet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4"/>
          <p:cNvSpPr/>
          <p:nvPr/>
        </p:nvSpPr>
        <p:spPr>
          <a:xfrm>
            <a:off x="1758851" y="1652290"/>
            <a:ext cx="2592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4"/>
          <p:cNvSpPr/>
          <p:nvPr/>
        </p:nvSpPr>
        <p:spPr>
          <a:xfrm>
            <a:off x="2142376" y="1320751"/>
            <a:ext cx="1220100" cy="882300"/>
          </a:xfrm>
          <a:prstGeom prst="roundRect">
            <a:avLst>
              <a:gd fmla="val 7196" name="adj"/>
            </a:avLst>
          </a:prstGeom>
          <a:solidFill>
            <a:srgbClr val="F39C12"/>
          </a:solidFill>
          <a:ln cap="flat" cmpd="sng" w="1905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4"/>
          <p:cNvSpPr/>
          <p:nvPr/>
        </p:nvSpPr>
        <p:spPr>
          <a:xfrm>
            <a:off x="2382778" y="1517502"/>
            <a:ext cx="739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ETL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4"/>
          <p:cNvSpPr/>
          <p:nvPr/>
        </p:nvSpPr>
        <p:spPr>
          <a:xfrm>
            <a:off x="2382778" y="1739702"/>
            <a:ext cx="739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ADF / Dataflow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4"/>
          <p:cNvSpPr/>
          <p:nvPr/>
        </p:nvSpPr>
        <p:spPr>
          <a:xfrm>
            <a:off x="3486894" y="1652290"/>
            <a:ext cx="2592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4"/>
          <p:cNvSpPr/>
          <p:nvPr/>
        </p:nvSpPr>
        <p:spPr>
          <a:xfrm>
            <a:off x="3867894" y="1358801"/>
            <a:ext cx="1311300" cy="882300"/>
          </a:xfrm>
          <a:prstGeom prst="roundRect">
            <a:avLst>
              <a:gd fmla="val 7196" name="adj"/>
            </a:avLst>
          </a:prstGeom>
          <a:solidFill>
            <a:srgbClr val="9B59B6"/>
          </a:solidFill>
          <a:ln cap="flat" cmpd="sng" w="19050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4"/>
          <p:cNvSpPr/>
          <p:nvPr/>
        </p:nvSpPr>
        <p:spPr>
          <a:xfrm>
            <a:off x="4107385" y="1555552"/>
            <a:ext cx="832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Warehouse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4"/>
          <p:cNvSpPr/>
          <p:nvPr/>
        </p:nvSpPr>
        <p:spPr>
          <a:xfrm>
            <a:off x="4107385" y="1777752"/>
            <a:ext cx="832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Synapse / BigQuery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4"/>
          <p:cNvSpPr/>
          <p:nvPr/>
        </p:nvSpPr>
        <p:spPr>
          <a:xfrm>
            <a:off x="5306020" y="1652290"/>
            <a:ext cx="2592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4"/>
          <p:cNvSpPr/>
          <p:nvPr/>
        </p:nvSpPr>
        <p:spPr>
          <a:xfrm>
            <a:off x="5687025" y="1358800"/>
            <a:ext cx="1317000" cy="815700"/>
          </a:xfrm>
          <a:prstGeom prst="roundRect">
            <a:avLst>
              <a:gd fmla="val 8477" name="adj"/>
            </a:avLst>
          </a:prstGeom>
          <a:solidFill>
            <a:srgbClr val="3282B8"/>
          </a:solidFill>
          <a:ln cap="flat" cmpd="sng" w="19050">
            <a:solidFill>
              <a:srgbClr val="3282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4"/>
          <p:cNvSpPr/>
          <p:nvPr/>
        </p:nvSpPr>
        <p:spPr>
          <a:xfrm>
            <a:off x="5926454" y="1622227"/>
            <a:ext cx="838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Processing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4"/>
          <p:cNvSpPr/>
          <p:nvPr/>
        </p:nvSpPr>
        <p:spPr>
          <a:xfrm>
            <a:off x="5926454" y="1844427"/>
            <a:ext cx="8382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Databricks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4"/>
          <p:cNvSpPr/>
          <p:nvPr/>
        </p:nvSpPr>
        <p:spPr>
          <a:xfrm>
            <a:off x="7130951" y="1652290"/>
            <a:ext cx="2592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4"/>
          <p:cNvSpPr/>
          <p:nvPr/>
        </p:nvSpPr>
        <p:spPr>
          <a:xfrm>
            <a:off x="7511950" y="1358825"/>
            <a:ext cx="1075200" cy="815700"/>
          </a:xfrm>
          <a:prstGeom prst="roundRect">
            <a:avLst>
              <a:gd fmla="val 8477" name="adj"/>
            </a:avLst>
          </a:prstGeom>
          <a:solidFill>
            <a:srgbClr val="00C49A"/>
          </a:solidFill>
          <a:ln cap="flat" cmpd="sng" w="1905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4"/>
          <p:cNvSpPr/>
          <p:nvPr/>
        </p:nvSpPr>
        <p:spPr>
          <a:xfrm>
            <a:off x="7753802" y="1622227"/>
            <a:ext cx="5913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4"/>
          <p:cNvSpPr/>
          <p:nvPr/>
        </p:nvSpPr>
        <p:spPr>
          <a:xfrm>
            <a:off x="7753802" y="1844427"/>
            <a:ext cx="5913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4"/>
          <p:cNvSpPr/>
          <p:nvPr/>
        </p:nvSpPr>
        <p:spPr>
          <a:xfrm>
            <a:off x="444401" y="2580829"/>
            <a:ext cx="1930500" cy="1495500"/>
          </a:xfrm>
          <a:prstGeom prst="roundRect">
            <a:avLst>
              <a:gd fmla="val 4246" name="adj"/>
            </a:avLst>
          </a:prstGeom>
          <a:solidFill>
            <a:srgbClr val="2C3E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5" name="Google Shape;505;p24"/>
          <p:cNvCxnSpPr/>
          <p:nvPr/>
        </p:nvCxnSpPr>
        <p:spPr>
          <a:xfrm>
            <a:off x="463451" y="2580829"/>
            <a:ext cx="0" cy="1495500"/>
          </a:xfrm>
          <a:prstGeom prst="straightConnector1">
            <a:avLst/>
          </a:prstGeom>
          <a:noFill/>
          <a:ln cap="flat" cmpd="sng" w="381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6" name="Google Shape;506;p24"/>
          <p:cNvSpPr/>
          <p:nvPr/>
        </p:nvSpPr>
        <p:spPr>
          <a:xfrm>
            <a:off x="660202" y="2733229"/>
            <a:ext cx="15678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ETL Layer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4"/>
          <p:cNvSpPr/>
          <p:nvPr/>
        </p:nvSpPr>
        <p:spPr>
          <a:xfrm>
            <a:off x="660202" y="2987129"/>
            <a:ext cx="1567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AB7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AAB7B8"/>
                </a:solidFill>
                <a:latin typeface="Arial"/>
                <a:ea typeface="Arial"/>
                <a:cs typeface="Arial"/>
                <a:sym typeface="Arial"/>
              </a:rPr>
              <a:t>Extract from sources (Blob / GCS)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4"/>
          <p:cNvSpPr/>
          <p:nvPr/>
        </p:nvSpPr>
        <p:spPr>
          <a:xfrm>
            <a:off x="660202" y="3347591"/>
            <a:ext cx="15678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AB7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AAB7B8"/>
                </a:solidFill>
                <a:latin typeface="Arial"/>
                <a:ea typeface="Arial"/>
                <a:cs typeface="Arial"/>
                <a:sym typeface="Arial"/>
              </a:rPr>
              <a:t>Transform &amp; validate schema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4"/>
          <p:cNvSpPr/>
          <p:nvPr/>
        </p:nvSpPr>
        <p:spPr>
          <a:xfrm>
            <a:off x="660202" y="3559522"/>
            <a:ext cx="15678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AB7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AAB7B8"/>
                </a:solidFill>
                <a:latin typeface="Arial"/>
                <a:ea typeface="Arial"/>
                <a:cs typeface="Arial"/>
                <a:sym typeface="Arial"/>
              </a:rPr>
              <a:t>Load to warehouse (batch)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4"/>
          <p:cNvSpPr/>
          <p:nvPr/>
        </p:nvSpPr>
        <p:spPr>
          <a:xfrm>
            <a:off x="2552700" y="2580829"/>
            <a:ext cx="1930500" cy="1495500"/>
          </a:xfrm>
          <a:prstGeom prst="roundRect">
            <a:avLst>
              <a:gd fmla="val 4246" name="adj"/>
            </a:avLst>
          </a:prstGeom>
          <a:solidFill>
            <a:srgbClr val="2C3E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1" name="Google Shape;511;p24"/>
          <p:cNvCxnSpPr/>
          <p:nvPr/>
        </p:nvCxnSpPr>
        <p:spPr>
          <a:xfrm>
            <a:off x="2571750" y="2580829"/>
            <a:ext cx="0" cy="1495500"/>
          </a:xfrm>
          <a:prstGeom prst="straightConnector1">
            <a:avLst/>
          </a:prstGeom>
          <a:noFill/>
          <a:ln cap="flat" cmpd="sng" w="381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2" name="Google Shape;512;p24"/>
          <p:cNvSpPr/>
          <p:nvPr/>
        </p:nvSpPr>
        <p:spPr>
          <a:xfrm>
            <a:off x="2768501" y="2733229"/>
            <a:ext cx="1567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Warehouse Optimization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4"/>
          <p:cNvSpPr/>
          <p:nvPr/>
        </p:nvSpPr>
        <p:spPr>
          <a:xfrm>
            <a:off x="2768501" y="3139529"/>
            <a:ext cx="1567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AB7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AAB7B8"/>
                </a:solidFill>
                <a:latin typeface="Arial"/>
                <a:ea typeface="Arial"/>
                <a:cs typeface="Arial"/>
                <a:sym typeface="Arial"/>
              </a:rPr>
              <a:t>Partition by order_date (monthly)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4"/>
          <p:cNvSpPr/>
          <p:nvPr/>
        </p:nvSpPr>
        <p:spPr>
          <a:xfrm>
            <a:off x="2768501" y="3499991"/>
            <a:ext cx="15678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AB7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AAB7B8"/>
                </a:solidFill>
                <a:latin typeface="Arial"/>
                <a:ea typeface="Arial"/>
                <a:cs typeface="Arial"/>
                <a:sym typeface="Arial"/>
              </a:rPr>
              <a:t>Cluster by category, state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4"/>
          <p:cNvSpPr/>
          <p:nvPr/>
        </p:nvSpPr>
        <p:spPr>
          <a:xfrm>
            <a:off x="2768501" y="3711922"/>
            <a:ext cx="15678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AB7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AAB7B8"/>
                </a:solidFill>
                <a:latin typeface="Arial"/>
                <a:ea typeface="Arial"/>
                <a:cs typeface="Arial"/>
                <a:sym typeface="Arial"/>
              </a:rPr>
              <a:t>Columnar storage (Parquet)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4"/>
          <p:cNvSpPr/>
          <p:nvPr/>
        </p:nvSpPr>
        <p:spPr>
          <a:xfrm>
            <a:off x="4660999" y="2580829"/>
            <a:ext cx="1930500" cy="1495500"/>
          </a:xfrm>
          <a:prstGeom prst="roundRect">
            <a:avLst>
              <a:gd fmla="val 4246" name="adj"/>
            </a:avLst>
          </a:prstGeom>
          <a:solidFill>
            <a:srgbClr val="2C3E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7" name="Google Shape;517;p24"/>
          <p:cNvCxnSpPr/>
          <p:nvPr/>
        </p:nvCxnSpPr>
        <p:spPr>
          <a:xfrm>
            <a:off x="4680049" y="2580829"/>
            <a:ext cx="0" cy="1495500"/>
          </a:xfrm>
          <a:prstGeom prst="straightConnector1">
            <a:avLst/>
          </a:prstGeom>
          <a:noFill/>
          <a:ln cap="flat" cmpd="sng" w="381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8" name="Google Shape;518;p24"/>
          <p:cNvSpPr/>
          <p:nvPr/>
        </p:nvSpPr>
        <p:spPr>
          <a:xfrm>
            <a:off x="4876800" y="2733229"/>
            <a:ext cx="15678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PySpark Processing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4"/>
          <p:cNvSpPr/>
          <p:nvPr/>
        </p:nvSpPr>
        <p:spPr>
          <a:xfrm>
            <a:off x="4876800" y="2987129"/>
            <a:ext cx="1567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AB7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AAB7B8"/>
                </a:solidFill>
                <a:latin typeface="Arial"/>
                <a:ea typeface="Arial"/>
                <a:cs typeface="Arial"/>
                <a:sym typeface="Arial"/>
              </a:rPr>
              <a:t>Complex aggregations at scale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4"/>
          <p:cNvSpPr/>
          <p:nvPr/>
        </p:nvSpPr>
        <p:spPr>
          <a:xfrm>
            <a:off x="4876800" y="3347591"/>
            <a:ext cx="15678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AB7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AAB7B8"/>
                </a:solidFill>
                <a:latin typeface="Arial"/>
                <a:ea typeface="Arial"/>
                <a:cs typeface="Arial"/>
                <a:sym typeface="Arial"/>
              </a:rPr>
              <a:t>Data transformations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4"/>
          <p:cNvSpPr/>
          <p:nvPr/>
        </p:nvSpPr>
        <p:spPr>
          <a:xfrm>
            <a:off x="4876800" y="3559522"/>
            <a:ext cx="1567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AB7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AAB7B8"/>
                </a:solidFill>
                <a:latin typeface="Arial"/>
                <a:ea typeface="Arial"/>
                <a:cs typeface="Arial"/>
                <a:sym typeface="Arial"/>
              </a:rPr>
              <a:t>Feature engineering for analytics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4"/>
          <p:cNvSpPr/>
          <p:nvPr/>
        </p:nvSpPr>
        <p:spPr>
          <a:xfrm>
            <a:off x="6769298" y="2580829"/>
            <a:ext cx="1930500" cy="1495500"/>
          </a:xfrm>
          <a:prstGeom prst="roundRect">
            <a:avLst>
              <a:gd fmla="val 4246" name="adj"/>
            </a:avLst>
          </a:prstGeom>
          <a:solidFill>
            <a:srgbClr val="2C3E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3" name="Google Shape;523;p24"/>
          <p:cNvCxnSpPr/>
          <p:nvPr/>
        </p:nvCxnSpPr>
        <p:spPr>
          <a:xfrm>
            <a:off x="6788348" y="2580829"/>
            <a:ext cx="0" cy="1495500"/>
          </a:xfrm>
          <a:prstGeom prst="straightConnector1">
            <a:avLst/>
          </a:prstGeom>
          <a:noFill/>
          <a:ln cap="flat" cmpd="sng" w="381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4" name="Google Shape;524;p24"/>
          <p:cNvSpPr/>
          <p:nvPr/>
        </p:nvSpPr>
        <p:spPr>
          <a:xfrm>
            <a:off x="6985099" y="2733229"/>
            <a:ext cx="15678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Agent Integration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4"/>
          <p:cNvSpPr/>
          <p:nvPr/>
        </p:nvSpPr>
        <p:spPr>
          <a:xfrm>
            <a:off x="6985099" y="2987129"/>
            <a:ext cx="15678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AB7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AAB7B8"/>
                </a:solidFill>
                <a:latin typeface="Arial"/>
                <a:ea typeface="Arial"/>
                <a:cs typeface="Arial"/>
                <a:sym typeface="Arial"/>
              </a:rPr>
              <a:t>NL-to-SQL query generation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4"/>
          <p:cNvSpPr/>
          <p:nvPr/>
        </p:nvSpPr>
        <p:spPr>
          <a:xfrm>
            <a:off x="6985099" y="3199061"/>
            <a:ext cx="15678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AB7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AAB7B8"/>
                </a:solidFill>
                <a:latin typeface="Arial"/>
                <a:ea typeface="Arial"/>
                <a:cs typeface="Arial"/>
                <a:sym typeface="Arial"/>
              </a:rPr>
              <a:t>Multi-agent orchestration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4"/>
          <p:cNvSpPr/>
          <p:nvPr/>
        </p:nvSpPr>
        <p:spPr>
          <a:xfrm>
            <a:off x="6985099" y="3410992"/>
            <a:ext cx="1567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AB7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AAB7B8"/>
                </a:solidFill>
                <a:latin typeface="Arial"/>
                <a:ea typeface="Arial"/>
                <a:cs typeface="Arial"/>
                <a:sym typeface="Arial"/>
              </a:rPr>
              <a:t>Response formatting &amp; validation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5"/>
          <p:cNvSpPr/>
          <p:nvPr/>
        </p:nvSpPr>
        <p:spPr>
          <a:xfrm>
            <a:off x="0" y="0"/>
            <a:ext cx="9144000" cy="688800"/>
          </a:xfrm>
          <a:prstGeom prst="rect">
            <a:avLst/>
          </a:prstGeom>
          <a:solidFill>
            <a:srgbClr val="0F4C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5"/>
          <p:cNvSpPr/>
          <p:nvPr/>
        </p:nvSpPr>
        <p:spPr>
          <a:xfrm>
            <a:off x="507950" y="177701"/>
            <a:ext cx="82908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Observability Strategy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5"/>
          <p:cNvSpPr/>
          <p:nvPr/>
        </p:nvSpPr>
        <p:spPr>
          <a:xfrm>
            <a:off x="381000" y="841177"/>
            <a:ext cx="8382000" cy="1009800"/>
          </a:xfrm>
          <a:prstGeom prst="roundRect">
            <a:avLst>
              <a:gd fmla="val 7545" name="adj"/>
            </a:avLst>
          </a:prstGeom>
          <a:solidFill>
            <a:srgbClr val="FFFFFF"/>
          </a:solidFill>
          <a:ln cap="flat" cmpd="sng" w="9525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5"/>
          <p:cNvSpPr/>
          <p:nvPr/>
        </p:nvSpPr>
        <p:spPr>
          <a:xfrm>
            <a:off x="574926" y="977652"/>
            <a:ext cx="1912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1000"/>
              <a:buFont typeface="Arial"/>
              <a:buNone/>
            </a:pPr>
            <a:r>
              <a:rPr b="1" i="0" lang="en" sz="1100" u="none" cap="none" strike="noStrike">
                <a:solidFill>
                  <a:srgbClr val="0F4C75"/>
                </a:solidFill>
                <a:latin typeface="Arial"/>
                <a:ea typeface="Arial"/>
                <a:cs typeface="Arial"/>
                <a:sym typeface="Arial"/>
              </a:rPr>
              <a:t>LOGGING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5"/>
          <p:cNvSpPr/>
          <p:nvPr/>
        </p:nvSpPr>
        <p:spPr>
          <a:xfrm>
            <a:off x="574926" y="1196727"/>
            <a:ext cx="1912500" cy="1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Query logs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5"/>
          <p:cNvSpPr/>
          <p:nvPr/>
        </p:nvSpPr>
        <p:spPr>
          <a:xfrm>
            <a:off x="574926" y="1369368"/>
            <a:ext cx="1912500" cy="1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Error logs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5"/>
          <p:cNvSpPr/>
          <p:nvPr/>
        </p:nvSpPr>
        <p:spPr>
          <a:xfrm>
            <a:off x="574926" y="1542008"/>
            <a:ext cx="1912500" cy="1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Agent decisions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5"/>
          <p:cNvSpPr/>
          <p:nvPr/>
        </p:nvSpPr>
        <p:spPr>
          <a:xfrm>
            <a:off x="2602263" y="977652"/>
            <a:ext cx="1912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1000"/>
              <a:buFont typeface="Arial"/>
              <a:buNone/>
            </a:pPr>
            <a:r>
              <a:rPr b="1" i="0" lang="en" sz="1100" u="none" cap="none" strike="noStrike">
                <a:solidFill>
                  <a:srgbClr val="0F4C75"/>
                </a:solidFill>
                <a:latin typeface="Arial"/>
                <a:ea typeface="Arial"/>
                <a:cs typeface="Arial"/>
                <a:sym typeface="Arial"/>
              </a:rPr>
              <a:t>METRICS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5"/>
          <p:cNvSpPr/>
          <p:nvPr/>
        </p:nvSpPr>
        <p:spPr>
          <a:xfrm>
            <a:off x="2602263" y="1196727"/>
            <a:ext cx="1912500" cy="1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Response 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5"/>
          <p:cNvSpPr/>
          <p:nvPr/>
        </p:nvSpPr>
        <p:spPr>
          <a:xfrm>
            <a:off x="2602263" y="1369368"/>
            <a:ext cx="1912500" cy="1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Token usage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5"/>
          <p:cNvSpPr/>
          <p:nvPr/>
        </p:nvSpPr>
        <p:spPr>
          <a:xfrm>
            <a:off x="2602263" y="1542008"/>
            <a:ext cx="1912500" cy="1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Success 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5"/>
          <p:cNvSpPr/>
          <p:nvPr/>
        </p:nvSpPr>
        <p:spPr>
          <a:xfrm>
            <a:off x="4629599" y="977652"/>
            <a:ext cx="1912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1000"/>
              <a:buFont typeface="Arial"/>
              <a:buNone/>
            </a:pPr>
            <a:r>
              <a:rPr b="1" i="0" lang="en" sz="1100" u="none" cap="none" strike="noStrike">
                <a:solidFill>
                  <a:srgbClr val="0F4C75"/>
                </a:solidFill>
                <a:latin typeface="Arial"/>
                <a:ea typeface="Arial"/>
                <a:cs typeface="Arial"/>
                <a:sym typeface="Arial"/>
              </a:rPr>
              <a:t>TRACING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5"/>
          <p:cNvSpPr/>
          <p:nvPr/>
        </p:nvSpPr>
        <p:spPr>
          <a:xfrm>
            <a:off x="4629599" y="1196727"/>
            <a:ext cx="1912500" cy="1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Request 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5"/>
          <p:cNvSpPr/>
          <p:nvPr/>
        </p:nvSpPr>
        <p:spPr>
          <a:xfrm>
            <a:off x="4629599" y="1369368"/>
            <a:ext cx="1912500" cy="1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Agent routing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5"/>
          <p:cNvSpPr/>
          <p:nvPr/>
        </p:nvSpPr>
        <p:spPr>
          <a:xfrm>
            <a:off x="4629599" y="1542008"/>
            <a:ext cx="1912500" cy="1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Query path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5"/>
          <p:cNvSpPr/>
          <p:nvPr/>
        </p:nvSpPr>
        <p:spPr>
          <a:xfrm>
            <a:off x="6656936" y="977652"/>
            <a:ext cx="1912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1000"/>
              <a:buFont typeface="Arial"/>
              <a:buNone/>
            </a:pPr>
            <a:r>
              <a:rPr b="1" i="0" lang="en" sz="1100" u="none" cap="none" strike="noStrike">
                <a:solidFill>
                  <a:srgbClr val="0F4C75"/>
                </a:solidFill>
                <a:latin typeface="Arial"/>
                <a:ea typeface="Arial"/>
                <a:cs typeface="Arial"/>
                <a:sym typeface="Arial"/>
              </a:rPr>
              <a:t>ALERTING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5"/>
          <p:cNvSpPr/>
          <p:nvPr/>
        </p:nvSpPr>
        <p:spPr>
          <a:xfrm>
            <a:off x="6656936" y="1196727"/>
            <a:ext cx="1912500" cy="1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Error spikes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5"/>
          <p:cNvSpPr/>
          <p:nvPr/>
        </p:nvSpPr>
        <p:spPr>
          <a:xfrm>
            <a:off x="6656936" y="1369368"/>
            <a:ext cx="1912500" cy="1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Cost limits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5"/>
          <p:cNvSpPr/>
          <p:nvPr/>
        </p:nvSpPr>
        <p:spPr>
          <a:xfrm>
            <a:off x="6656936" y="1542008"/>
            <a:ext cx="1912500" cy="1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Latency issues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5"/>
          <p:cNvSpPr/>
          <p:nvPr/>
        </p:nvSpPr>
        <p:spPr>
          <a:xfrm>
            <a:off x="381000" y="1978075"/>
            <a:ext cx="8382000" cy="1686000"/>
          </a:xfrm>
          <a:prstGeom prst="roundRect">
            <a:avLst>
              <a:gd fmla="val 4520" name="adj"/>
            </a:avLst>
          </a:prstGeom>
          <a:solidFill>
            <a:srgbClr val="FFFFFF"/>
          </a:solidFill>
          <a:ln cap="flat" cmpd="sng" w="9525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5"/>
          <p:cNvSpPr/>
          <p:nvPr/>
        </p:nvSpPr>
        <p:spPr>
          <a:xfrm>
            <a:off x="390525" y="1987600"/>
            <a:ext cx="8363100" cy="295200"/>
          </a:xfrm>
          <a:prstGeom prst="rect">
            <a:avLst/>
          </a:prstGeom>
          <a:solidFill>
            <a:srgbClr val="0F4C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4" name="Google Shape;554;p25"/>
          <p:cNvCxnSpPr/>
          <p:nvPr/>
        </p:nvCxnSpPr>
        <p:spPr>
          <a:xfrm>
            <a:off x="390525" y="2278112"/>
            <a:ext cx="8363100" cy="0"/>
          </a:xfrm>
          <a:prstGeom prst="straightConnector1">
            <a:avLst/>
          </a:prstGeom>
          <a:noFill/>
          <a:ln cap="flat" cmpd="sng" w="9525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5" name="Google Shape;555;p25"/>
          <p:cNvSpPr/>
          <p:nvPr/>
        </p:nvSpPr>
        <p:spPr>
          <a:xfrm>
            <a:off x="517475" y="2063800"/>
            <a:ext cx="27138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Metric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5"/>
          <p:cNvSpPr/>
          <p:nvPr/>
        </p:nvSpPr>
        <p:spPr>
          <a:xfrm>
            <a:off x="3431828" y="2063800"/>
            <a:ext cx="27138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5"/>
          <p:cNvSpPr/>
          <p:nvPr/>
        </p:nvSpPr>
        <p:spPr>
          <a:xfrm>
            <a:off x="6346180" y="2063800"/>
            <a:ext cx="23259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Target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8" name="Google Shape;558;p25"/>
          <p:cNvCxnSpPr/>
          <p:nvPr/>
        </p:nvCxnSpPr>
        <p:spPr>
          <a:xfrm>
            <a:off x="390525" y="2554337"/>
            <a:ext cx="8363100" cy="0"/>
          </a:xfrm>
          <a:prstGeom prst="straightConnector1">
            <a:avLst/>
          </a:prstGeom>
          <a:noFill/>
          <a:ln cap="flat" cmpd="sng" w="9525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9" name="Google Shape;559;p25"/>
          <p:cNvSpPr/>
          <p:nvPr/>
        </p:nvSpPr>
        <p:spPr>
          <a:xfrm>
            <a:off x="517475" y="2359075"/>
            <a:ext cx="27138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800"/>
              <a:buFont typeface="Arial"/>
              <a:buNone/>
            </a:pPr>
            <a:r>
              <a:rPr b="1" i="0" lang="en" sz="1100" u="none" cap="none" strike="noStrike">
                <a:solidFill>
                  <a:srgbClr val="0F4C75"/>
                </a:solidFill>
                <a:latin typeface="Arial"/>
                <a:ea typeface="Arial"/>
                <a:cs typeface="Arial"/>
                <a:sym typeface="Arial"/>
              </a:rPr>
              <a:t>Query Latency (p95)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5"/>
          <p:cNvSpPr/>
          <p:nvPr/>
        </p:nvSpPr>
        <p:spPr>
          <a:xfrm>
            <a:off x="3431828" y="2359075"/>
            <a:ext cx="27138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Performance SLA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5"/>
          <p:cNvSpPr/>
          <p:nvPr/>
        </p:nvSpPr>
        <p:spPr>
          <a:xfrm>
            <a:off x="6346180" y="2359075"/>
            <a:ext cx="2325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&lt; 5 sec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2" name="Google Shape;562;p25"/>
          <p:cNvCxnSpPr/>
          <p:nvPr/>
        </p:nvCxnSpPr>
        <p:spPr>
          <a:xfrm>
            <a:off x="390525" y="2830562"/>
            <a:ext cx="8363100" cy="0"/>
          </a:xfrm>
          <a:prstGeom prst="straightConnector1">
            <a:avLst/>
          </a:prstGeom>
          <a:noFill/>
          <a:ln cap="flat" cmpd="sng" w="9525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3" name="Google Shape;563;p25"/>
          <p:cNvSpPr/>
          <p:nvPr/>
        </p:nvSpPr>
        <p:spPr>
          <a:xfrm>
            <a:off x="517475" y="2635300"/>
            <a:ext cx="27138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800"/>
              <a:buFont typeface="Arial"/>
              <a:buNone/>
            </a:pPr>
            <a:r>
              <a:rPr b="1" i="0" lang="en" sz="1100" u="none" cap="none" strike="noStrike">
                <a:solidFill>
                  <a:srgbClr val="0F4C75"/>
                </a:solidFill>
                <a:latin typeface="Arial"/>
                <a:ea typeface="Arial"/>
                <a:cs typeface="Arial"/>
                <a:sym typeface="Arial"/>
              </a:rPr>
              <a:t>Token Consumption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5"/>
          <p:cNvSpPr/>
          <p:nvPr/>
        </p:nvSpPr>
        <p:spPr>
          <a:xfrm>
            <a:off x="3431828" y="2635300"/>
            <a:ext cx="27138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Cost management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5"/>
          <p:cNvSpPr/>
          <p:nvPr/>
        </p:nvSpPr>
        <p:spPr>
          <a:xfrm>
            <a:off x="6346180" y="2635300"/>
            <a:ext cx="2325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Track/user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6" name="Google Shape;566;p25"/>
          <p:cNvCxnSpPr/>
          <p:nvPr/>
        </p:nvCxnSpPr>
        <p:spPr>
          <a:xfrm>
            <a:off x="390525" y="3106787"/>
            <a:ext cx="8363100" cy="0"/>
          </a:xfrm>
          <a:prstGeom prst="straightConnector1">
            <a:avLst/>
          </a:prstGeom>
          <a:noFill/>
          <a:ln cap="flat" cmpd="sng" w="9525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7" name="Google Shape;567;p25"/>
          <p:cNvSpPr/>
          <p:nvPr/>
        </p:nvSpPr>
        <p:spPr>
          <a:xfrm>
            <a:off x="517475" y="2911525"/>
            <a:ext cx="27138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800"/>
              <a:buFont typeface="Arial"/>
              <a:buNone/>
            </a:pPr>
            <a:r>
              <a:rPr b="1" i="0" lang="en" sz="1100" u="none" cap="none" strike="noStrike">
                <a:solidFill>
                  <a:srgbClr val="0F4C75"/>
                </a:solidFill>
                <a:latin typeface="Arial"/>
                <a:ea typeface="Arial"/>
                <a:cs typeface="Arial"/>
                <a:sym typeface="Arial"/>
              </a:rPr>
              <a:t>Error 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5"/>
          <p:cNvSpPr/>
          <p:nvPr/>
        </p:nvSpPr>
        <p:spPr>
          <a:xfrm>
            <a:off x="3431828" y="2911525"/>
            <a:ext cx="27138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System health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5"/>
          <p:cNvSpPr/>
          <p:nvPr/>
        </p:nvSpPr>
        <p:spPr>
          <a:xfrm>
            <a:off x="6346180" y="2911525"/>
            <a:ext cx="2325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&lt; 5%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0" name="Google Shape;570;p25"/>
          <p:cNvCxnSpPr/>
          <p:nvPr/>
        </p:nvCxnSpPr>
        <p:spPr>
          <a:xfrm>
            <a:off x="390525" y="3383012"/>
            <a:ext cx="8363100" cy="0"/>
          </a:xfrm>
          <a:prstGeom prst="straightConnector1">
            <a:avLst/>
          </a:prstGeom>
          <a:noFill/>
          <a:ln cap="flat" cmpd="sng" w="9525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1" name="Google Shape;571;p25"/>
          <p:cNvSpPr/>
          <p:nvPr/>
        </p:nvSpPr>
        <p:spPr>
          <a:xfrm>
            <a:off x="517475" y="3187750"/>
            <a:ext cx="27138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800"/>
              <a:buFont typeface="Arial"/>
              <a:buNone/>
            </a:pPr>
            <a:r>
              <a:rPr b="1" i="0" lang="en" sz="1100" u="none" cap="none" strike="noStrike">
                <a:solidFill>
                  <a:srgbClr val="0F4C75"/>
                </a:solidFill>
                <a:latin typeface="Arial"/>
                <a:ea typeface="Arial"/>
                <a:cs typeface="Arial"/>
                <a:sym typeface="Arial"/>
              </a:rPr>
              <a:t>SQL Generation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5"/>
          <p:cNvSpPr/>
          <p:nvPr/>
        </p:nvSpPr>
        <p:spPr>
          <a:xfrm>
            <a:off x="3431828" y="3187750"/>
            <a:ext cx="27138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Quality assurance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5"/>
          <p:cNvSpPr/>
          <p:nvPr/>
        </p:nvSpPr>
        <p:spPr>
          <a:xfrm>
            <a:off x="6346180" y="3187750"/>
            <a:ext cx="2325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&gt; 90%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5"/>
          <p:cNvSpPr/>
          <p:nvPr/>
        </p:nvSpPr>
        <p:spPr>
          <a:xfrm>
            <a:off x="517475" y="3463975"/>
            <a:ext cx="27138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800"/>
              <a:buFont typeface="Arial"/>
              <a:buNone/>
            </a:pPr>
            <a:r>
              <a:rPr b="1" i="0" lang="en" sz="1100" u="none" cap="none" strike="noStrike">
                <a:solidFill>
                  <a:srgbClr val="0F4C75"/>
                </a:solidFill>
                <a:latin typeface="Arial"/>
                <a:ea typeface="Arial"/>
                <a:cs typeface="Arial"/>
                <a:sym typeface="Arial"/>
              </a:rPr>
              <a:t>Cache Hit 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5"/>
          <p:cNvSpPr/>
          <p:nvPr/>
        </p:nvSpPr>
        <p:spPr>
          <a:xfrm>
            <a:off x="3431828" y="3463975"/>
            <a:ext cx="27138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Cost optimization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5"/>
          <p:cNvSpPr/>
          <p:nvPr/>
        </p:nvSpPr>
        <p:spPr>
          <a:xfrm>
            <a:off x="6346180" y="3463975"/>
            <a:ext cx="2325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&gt; 50%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5"/>
          <p:cNvSpPr/>
          <p:nvPr/>
        </p:nvSpPr>
        <p:spPr>
          <a:xfrm>
            <a:off x="381000" y="3790950"/>
            <a:ext cx="8382000" cy="965700"/>
          </a:xfrm>
          <a:prstGeom prst="roundRect">
            <a:avLst>
              <a:gd fmla="val 789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8" name="Google Shape;578;p25"/>
          <p:cNvCxnSpPr/>
          <p:nvPr/>
        </p:nvCxnSpPr>
        <p:spPr>
          <a:xfrm>
            <a:off x="400050" y="3790950"/>
            <a:ext cx="0" cy="965700"/>
          </a:xfrm>
          <a:prstGeom prst="straightConnector1">
            <a:avLst/>
          </a:prstGeom>
          <a:noFill/>
          <a:ln cap="flat" cmpd="sng" w="381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9" name="Google Shape;579;p25"/>
          <p:cNvSpPr/>
          <p:nvPr/>
        </p:nvSpPr>
        <p:spPr>
          <a:xfrm>
            <a:off x="596801" y="3905250"/>
            <a:ext cx="81483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1000"/>
              <a:buFont typeface="Arial"/>
              <a:buNone/>
            </a:pPr>
            <a:r>
              <a:rPr b="1" i="0" lang="en" sz="1100" u="none" cap="none" strike="noStrike">
                <a:solidFill>
                  <a:srgbClr val="0F4C75"/>
                </a:solidFill>
                <a:latin typeface="Arial"/>
                <a:ea typeface="Arial"/>
                <a:cs typeface="Arial"/>
                <a:sym typeface="Arial"/>
              </a:rPr>
              <a:t>Monitoring Approach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5"/>
          <p:cNvSpPr/>
          <p:nvPr/>
        </p:nvSpPr>
        <p:spPr>
          <a:xfrm>
            <a:off x="596801" y="4124325"/>
            <a:ext cx="8148300" cy="1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800"/>
              <a:buFont typeface="Arial"/>
              <a:buNone/>
            </a:pPr>
            <a:r>
              <a:rPr b="1" i="0" lang="en" sz="10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Centralized Logging:</a:t>
            </a:r>
            <a:r>
              <a:rPr b="0" i="0" lang="en" sz="10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 Azure Monitor / Cloud Logging for query and error tracking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5"/>
          <p:cNvSpPr/>
          <p:nvPr/>
        </p:nvSpPr>
        <p:spPr>
          <a:xfrm>
            <a:off x="596801" y="4296966"/>
            <a:ext cx="8148300" cy="1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800"/>
              <a:buFont typeface="Arial"/>
              <a:buNone/>
            </a:pPr>
            <a:r>
              <a:rPr b="1" i="0" lang="en" sz="10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Metric Dashboards:</a:t>
            </a:r>
            <a:r>
              <a:rPr b="0" i="0" lang="en" sz="10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 Track trends for latency, token usage, and success rates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5"/>
          <p:cNvSpPr/>
          <p:nvPr/>
        </p:nvSpPr>
        <p:spPr>
          <a:xfrm>
            <a:off x="596801" y="4469606"/>
            <a:ext cx="8148300" cy="1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800"/>
              <a:buFont typeface="Arial"/>
              <a:buNone/>
            </a:pPr>
            <a:r>
              <a:rPr b="1" i="0" lang="en" sz="10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Query-Level Tracing:</a:t>
            </a:r>
            <a:r>
              <a:rPr b="0" i="0" lang="en" sz="10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 Identify bottlenecks (Guardrails → SQL Generation  → Execution → Response)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26"/>
          <p:cNvSpPr/>
          <p:nvPr/>
        </p:nvSpPr>
        <p:spPr>
          <a:xfrm>
            <a:off x="0" y="-1043850"/>
            <a:ext cx="9144000" cy="1028700"/>
          </a:xfrm>
          <a:prstGeom prst="rect">
            <a:avLst/>
          </a:prstGeom>
          <a:solidFill>
            <a:srgbClr val="0F4C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6"/>
          <p:cNvSpPr/>
          <p:nvPr/>
        </p:nvSpPr>
        <p:spPr>
          <a:xfrm>
            <a:off x="507950" y="-794578"/>
            <a:ext cx="8290800" cy="5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Cost Analysis (Multi-Cloud)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6"/>
          <p:cNvSpPr/>
          <p:nvPr/>
        </p:nvSpPr>
        <p:spPr>
          <a:xfrm>
            <a:off x="381000" y="192044"/>
            <a:ext cx="4484400" cy="2693400"/>
          </a:xfrm>
          <a:prstGeom prst="roundRect">
            <a:avLst>
              <a:gd fmla="val 3856" name="adj"/>
            </a:avLst>
          </a:prstGeom>
          <a:solidFill>
            <a:srgbClr val="FFFFFF"/>
          </a:solidFill>
          <a:ln cap="flat" cmpd="sng" w="9525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6"/>
          <p:cNvSpPr/>
          <p:nvPr/>
        </p:nvSpPr>
        <p:spPr>
          <a:xfrm>
            <a:off x="390525" y="207623"/>
            <a:ext cx="4465200" cy="441000"/>
          </a:xfrm>
          <a:prstGeom prst="rect">
            <a:avLst/>
          </a:prstGeom>
          <a:solidFill>
            <a:srgbClr val="0F4C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2" name="Google Shape;592;p26"/>
          <p:cNvCxnSpPr/>
          <p:nvPr/>
        </p:nvCxnSpPr>
        <p:spPr>
          <a:xfrm>
            <a:off x="390525" y="640928"/>
            <a:ext cx="4465200" cy="0"/>
          </a:xfrm>
          <a:prstGeom prst="straightConnector1">
            <a:avLst/>
          </a:prstGeom>
          <a:noFill/>
          <a:ln cap="flat" cmpd="sng" w="9525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3" name="Google Shape;593;p26"/>
          <p:cNvSpPr/>
          <p:nvPr/>
        </p:nvSpPr>
        <p:spPr>
          <a:xfrm>
            <a:off x="492026" y="311325"/>
            <a:ext cx="15732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Component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6"/>
          <p:cNvSpPr/>
          <p:nvPr/>
        </p:nvSpPr>
        <p:spPr>
          <a:xfrm>
            <a:off x="2214345" y="311325"/>
            <a:ext cx="11799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Demo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6"/>
          <p:cNvSpPr/>
          <p:nvPr/>
        </p:nvSpPr>
        <p:spPr>
          <a:xfrm>
            <a:off x="3574188" y="311325"/>
            <a:ext cx="11799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6" name="Google Shape;596;p26"/>
          <p:cNvCxnSpPr/>
          <p:nvPr/>
        </p:nvCxnSpPr>
        <p:spPr>
          <a:xfrm>
            <a:off x="390525" y="1237819"/>
            <a:ext cx="4465200" cy="0"/>
          </a:xfrm>
          <a:prstGeom prst="straightConnector1">
            <a:avLst/>
          </a:prstGeom>
          <a:noFill/>
          <a:ln cap="flat" cmpd="sng" w="9525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7" name="Google Shape;597;p26"/>
          <p:cNvSpPr/>
          <p:nvPr/>
        </p:nvSpPr>
        <p:spPr>
          <a:xfrm>
            <a:off x="492026" y="752421"/>
            <a:ext cx="15732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Query Engine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6"/>
          <p:cNvSpPr/>
          <p:nvPr/>
        </p:nvSpPr>
        <p:spPr>
          <a:xfrm>
            <a:off x="2214345" y="752421"/>
            <a:ext cx="11799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DuckDB: $0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6"/>
          <p:cNvSpPr/>
          <p:nvPr/>
        </p:nvSpPr>
        <p:spPr>
          <a:xfrm>
            <a:off x="3574188" y="752421"/>
            <a:ext cx="11799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BigQuery/Synapse: ~$50/mo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0" name="Google Shape;600;p26"/>
          <p:cNvCxnSpPr/>
          <p:nvPr/>
        </p:nvCxnSpPr>
        <p:spPr>
          <a:xfrm>
            <a:off x="390525" y="1647756"/>
            <a:ext cx="4465200" cy="0"/>
          </a:xfrm>
          <a:prstGeom prst="straightConnector1">
            <a:avLst/>
          </a:prstGeom>
          <a:noFill/>
          <a:ln cap="flat" cmpd="sng" w="9525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1" name="Google Shape;601;p26"/>
          <p:cNvSpPr/>
          <p:nvPr/>
        </p:nvSpPr>
        <p:spPr>
          <a:xfrm>
            <a:off x="492026" y="1349310"/>
            <a:ext cx="15732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Gemini 2.5 Pro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6"/>
          <p:cNvSpPr/>
          <p:nvPr/>
        </p:nvSpPr>
        <p:spPr>
          <a:xfrm>
            <a:off x="2214345" y="1349310"/>
            <a:ext cx="11799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~$0.01/query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6"/>
          <p:cNvSpPr/>
          <p:nvPr/>
        </p:nvSpPr>
        <p:spPr>
          <a:xfrm>
            <a:off x="3574188" y="1349310"/>
            <a:ext cx="11799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~$0.01/query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4" name="Google Shape;604;p26"/>
          <p:cNvCxnSpPr/>
          <p:nvPr/>
        </p:nvCxnSpPr>
        <p:spPr>
          <a:xfrm>
            <a:off x="390525" y="2057692"/>
            <a:ext cx="4465200" cy="0"/>
          </a:xfrm>
          <a:prstGeom prst="straightConnector1">
            <a:avLst/>
          </a:prstGeom>
          <a:noFill/>
          <a:ln cap="flat" cmpd="sng" w="9525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5" name="Google Shape;605;p26"/>
          <p:cNvSpPr/>
          <p:nvPr/>
        </p:nvSpPr>
        <p:spPr>
          <a:xfrm>
            <a:off x="492026" y="1759247"/>
            <a:ext cx="15732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OpenAI GPT-4o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6"/>
          <p:cNvSpPr/>
          <p:nvPr/>
        </p:nvSpPr>
        <p:spPr>
          <a:xfrm>
            <a:off x="2214345" y="1759247"/>
            <a:ext cx="11799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~$0.02/query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6"/>
          <p:cNvSpPr/>
          <p:nvPr/>
        </p:nvSpPr>
        <p:spPr>
          <a:xfrm>
            <a:off x="3574188" y="1759247"/>
            <a:ext cx="11799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~$0.008 cached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8" name="Google Shape;608;p26"/>
          <p:cNvCxnSpPr/>
          <p:nvPr/>
        </p:nvCxnSpPr>
        <p:spPr>
          <a:xfrm>
            <a:off x="390525" y="2467628"/>
            <a:ext cx="4465200" cy="0"/>
          </a:xfrm>
          <a:prstGeom prst="straightConnector1">
            <a:avLst/>
          </a:prstGeom>
          <a:noFill/>
          <a:ln cap="flat" cmpd="sng" w="9525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9" name="Google Shape;609;p26"/>
          <p:cNvSpPr/>
          <p:nvPr/>
        </p:nvSpPr>
        <p:spPr>
          <a:xfrm>
            <a:off x="492026" y="2169182"/>
            <a:ext cx="15732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Redis + Cloud Storage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6"/>
          <p:cNvSpPr/>
          <p:nvPr/>
        </p:nvSpPr>
        <p:spPr>
          <a:xfrm>
            <a:off x="2214345" y="2169182"/>
            <a:ext cx="11799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6"/>
          <p:cNvSpPr/>
          <p:nvPr/>
        </p:nvSpPr>
        <p:spPr>
          <a:xfrm>
            <a:off x="3574188" y="2169182"/>
            <a:ext cx="11799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~$150/mo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6"/>
          <p:cNvSpPr/>
          <p:nvPr/>
        </p:nvSpPr>
        <p:spPr>
          <a:xfrm>
            <a:off x="390525" y="2475417"/>
            <a:ext cx="4465200" cy="39450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6"/>
          <p:cNvSpPr/>
          <p:nvPr/>
        </p:nvSpPr>
        <p:spPr>
          <a:xfrm>
            <a:off x="492026" y="2579119"/>
            <a:ext cx="15732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800"/>
              <a:buFont typeface="Arial"/>
              <a:buNone/>
            </a:pPr>
            <a:r>
              <a:rPr b="1" i="0" lang="en" sz="11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Monthly Total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6"/>
          <p:cNvSpPr/>
          <p:nvPr/>
        </p:nvSpPr>
        <p:spPr>
          <a:xfrm>
            <a:off x="2214345" y="2579119"/>
            <a:ext cx="11799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800"/>
              <a:buFont typeface="Arial"/>
              <a:buNone/>
            </a:pPr>
            <a:r>
              <a:rPr b="1" i="0" lang="en" sz="11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~$5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6"/>
          <p:cNvSpPr/>
          <p:nvPr/>
        </p:nvSpPr>
        <p:spPr>
          <a:xfrm>
            <a:off x="3574188" y="2579119"/>
            <a:ext cx="11799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800"/>
              <a:buFont typeface="Arial"/>
              <a:buNone/>
            </a:pPr>
            <a:r>
              <a:rPr b="1" i="0" lang="en" sz="11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~$200-500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6"/>
          <p:cNvSpPr/>
          <p:nvPr/>
        </p:nvSpPr>
        <p:spPr>
          <a:xfrm>
            <a:off x="381000" y="3051374"/>
            <a:ext cx="4484400" cy="1276800"/>
          </a:xfrm>
          <a:prstGeom prst="roundRect">
            <a:avLst>
              <a:gd fmla="val 8136" name="adj"/>
            </a:avLst>
          </a:prstGeom>
          <a:solidFill>
            <a:srgbClr val="FFFFFF"/>
          </a:solidFill>
          <a:ln cap="flat" cmpd="sng" w="9525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6"/>
          <p:cNvSpPr/>
          <p:nvPr/>
        </p:nvSpPr>
        <p:spPr>
          <a:xfrm>
            <a:off x="390525" y="3066953"/>
            <a:ext cx="4465200" cy="441000"/>
          </a:xfrm>
          <a:prstGeom prst="rect">
            <a:avLst/>
          </a:prstGeom>
          <a:solidFill>
            <a:srgbClr val="0F4C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8" name="Google Shape;618;p26"/>
          <p:cNvCxnSpPr/>
          <p:nvPr/>
        </p:nvCxnSpPr>
        <p:spPr>
          <a:xfrm>
            <a:off x="390525" y="3500259"/>
            <a:ext cx="4465200" cy="0"/>
          </a:xfrm>
          <a:prstGeom prst="straightConnector1">
            <a:avLst/>
          </a:prstGeom>
          <a:noFill/>
          <a:ln cap="flat" cmpd="sng" w="9525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9" name="Google Shape;619;p26"/>
          <p:cNvSpPr/>
          <p:nvPr/>
        </p:nvSpPr>
        <p:spPr>
          <a:xfrm>
            <a:off x="492026" y="3170653"/>
            <a:ext cx="15732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Query Volume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6"/>
          <p:cNvSpPr/>
          <p:nvPr/>
        </p:nvSpPr>
        <p:spPr>
          <a:xfrm>
            <a:off x="2214345" y="3170653"/>
            <a:ext cx="11799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Demo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6"/>
          <p:cNvSpPr/>
          <p:nvPr/>
        </p:nvSpPr>
        <p:spPr>
          <a:xfrm>
            <a:off x="3574188" y="3170653"/>
            <a:ext cx="11799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2" name="Google Shape;622;p26"/>
          <p:cNvCxnSpPr/>
          <p:nvPr/>
        </p:nvCxnSpPr>
        <p:spPr>
          <a:xfrm>
            <a:off x="390525" y="3910194"/>
            <a:ext cx="4465200" cy="0"/>
          </a:xfrm>
          <a:prstGeom prst="straightConnector1">
            <a:avLst/>
          </a:prstGeom>
          <a:noFill/>
          <a:ln cap="flat" cmpd="sng" w="9525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3" name="Google Shape;623;p26"/>
          <p:cNvSpPr/>
          <p:nvPr/>
        </p:nvSpPr>
        <p:spPr>
          <a:xfrm>
            <a:off x="492026" y="3611749"/>
            <a:ext cx="15732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Queries/day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6"/>
          <p:cNvSpPr/>
          <p:nvPr/>
        </p:nvSpPr>
        <p:spPr>
          <a:xfrm>
            <a:off x="2214345" y="3611749"/>
            <a:ext cx="11799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~50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6"/>
          <p:cNvSpPr/>
          <p:nvPr/>
        </p:nvSpPr>
        <p:spPr>
          <a:xfrm>
            <a:off x="3574188" y="3611749"/>
            <a:ext cx="11799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~5,000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6"/>
          <p:cNvSpPr/>
          <p:nvPr/>
        </p:nvSpPr>
        <p:spPr>
          <a:xfrm>
            <a:off x="492026" y="4021684"/>
            <a:ext cx="15732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LLM cost/query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6"/>
          <p:cNvSpPr/>
          <p:nvPr/>
        </p:nvSpPr>
        <p:spPr>
          <a:xfrm>
            <a:off x="2214345" y="4021684"/>
            <a:ext cx="11799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~$0.03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6"/>
          <p:cNvSpPr/>
          <p:nvPr/>
        </p:nvSpPr>
        <p:spPr>
          <a:xfrm>
            <a:off x="3574188" y="4021684"/>
            <a:ext cx="11799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Arial"/>
              <a:buNone/>
            </a:pPr>
            <a:r>
              <a:rPr b="0" i="0" lang="en" sz="9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~$0.012 (60% cache)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6"/>
          <p:cNvSpPr/>
          <p:nvPr/>
        </p:nvSpPr>
        <p:spPr>
          <a:xfrm>
            <a:off x="5093940" y="192044"/>
            <a:ext cx="3669000" cy="2658300"/>
          </a:xfrm>
          <a:prstGeom prst="roundRect">
            <a:avLst>
              <a:gd fmla="val 390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0" name="Google Shape;630;p26"/>
          <p:cNvCxnSpPr/>
          <p:nvPr/>
        </p:nvCxnSpPr>
        <p:spPr>
          <a:xfrm>
            <a:off x="5112990" y="192044"/>
            <a:ext cx="0" cy="2658300"/>
          </a:xfrm>
          <a:prstGeom prst="straightConnector1">
            <a:avLst/>
          </a:prstGeom>
          <a:noFill/>
          <a:ln cap="flat" cmpd="sng" w="381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1" name="Google Shape;631;p26"/>
          <p:cNvSpPr/>
          <p:nvPr/>
        </p:nvSpPr>
        <p:spPr>
          <a:xfrm>
            <a:off x="5284440" y="399690"/>
            <a:ext cx="33927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75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F4C75"/>
                </a:solidFill>
                <a:latin typeface="Arial"/>
                <a:ea typeface="Arial"/>
                <a:cs typeface="Arial"/>
                <a:sym typeface="Arial"/>
              </a:rPr>
              <a:t>Cost Optimization Strategies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6"/>
          <p:cNvSpPr/>
          <p:nvPr/>
        </p:nvSpPr>
        <p:spPr>
          <a:xfrm>
            <a:off x="5284440" y="850220"/>
            <a:ext cx="203100" cy="203100"/>
          </a:xfrm>
          <a:prstGeom prst="roundRect">
            <a:avLst>
              <a:gd fmla="val 450111" name="adj"/>
            </a:avLst>
          </a:prstGeom>
          <a:solidFill>
            <a:srgbClr val="00C4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6"/>
          <p:cNvSpPr/>
          <p:nvPr/>
        </p:nvSpPr>
        <p:spPr>
          <a:xfrm>
            <a:off x="5354092" y="885045"/>
            <a:ext cx="651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6"/>
          <p:cNvSpPr/>
          <p:nvPr/>
        </p:nvSpPr>
        <p:spPr>
          <a:xfrm>
            <a:off x="5589091" y="814982"/>
            <a:ext cx="30819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900"/>
              <a:buFont typeface="Arial"/>
              <a:buNone/>
            </a:pPr>
            <a:r>
              <a:rPr b="1" i="0" lang="en" sz="11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~60% savings</a:t>
            </a: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 - Cache repeated queries in Redis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6"/>
          <p:cNvSpPr/>
          <p:nvPr/>
        </p:nvSpPr>
        <p:spPr>
          <a:xfrm>
            <a:off x="5284440" y="1294370"/>
            <a:ext cx="203100" cy="203100"/>
          </a:xfrm>
          <a:prstGeom prst="roundRect">
            <a:avLst>
              <a:gd fmla="val 450111" name="adj"/>
            </a:avLst>
          </a:prstGeom>
          <a:solidFill>
            <a:srgbClr val="00C4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6"/>
          <p:cNvSpPr/>
          <p:nvPr/>
        </p:nvSpPr>
        <p:spPr>
          <a:xfrm>
            <a:off x="5354092" y="1329196"/>
            <a:ext cx="651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6"/>
          <p:cNvSpPr/>
          <p:nvPr/>
        </p:nvSpPr>
        <p:spPr>
          <a:xfrm>
            <a:off x="5589091" y="1271900"/>
            <a:ext cx="30819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900"/>
              <a:buFont typeface="Arial"/>
              <a:buNone/>
            </a:pPr>
            <a:r>
              <a:rPr b="1" i="0" lang="en" sz="11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~40% savings</a:t>
            </a: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 - Gemini Flash for simple classification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6"/>
          <p:cNvSpPr/>
          <p:nvPr/>
        </p:nvSpPr>
        <p:spPr>
          <a:xfrm>
            <a:off x="5284440" y="1729847"/>
            <a:ext cx="203100" cy="203100"/>
          </a:xfrm>
          <a:prstGeom prst="roundRect">
            <a:avLst>
              <a:gd fmla="val 450111" name="adj"/>
            </a:avLst>
          </a:prstGeom>
          <a:solidFill>
            <a:srgbClr val="00C4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6"/>
          <p:cNvSpPr/>
          <p:nvPr/>
        </p:nvSpPr>
        <p:spPr>
          <a:xfrm>
            <a:off x="5354092" y="1764673"/>
            <a:ext cx="651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6"/>
          <p:cNvSpPr/>
          <p:nvPr/>
        </p:nvSpPr>
        <p:spPr>
          <a:xfrm>
            <a:off x="5589091" y="1728817"/>
            <a:ext cx="30819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900"/>
              <a:buFont typeface="Arial"/>
              <a:buNone/>
            </a:pPr>
            <a:r>
              <a:rPr b="1" i="0" lang="en" sz="11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Token limits</a:t>
            </a: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 - Max ~4K tokens per query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6"/>
          <p:cNvSpPr/>
          <p:nvPr/>
        </p:nvSpPr>
        <p:spPr>
          <a:xfrm>
            <a:off x="5284440" y="2173998"/>
            <a:ext cx="203100" cy="203100"/>
          </a:xfrm>
          <a:prstGeom prst="roundRect">
            <a:avLst>
              <a:gd fmla="val 450111" name="adj"/>
            </a:avLst>
          </a:prstGeom>
          <a:solidFill>
            <a:srgbClr val="00C4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6"/>
          <p:cNvSpPr/>
          <p:nvPr/>
        </p:nvSpPr>
        <p:spPr>
          <a:xfrm>
            <a:off x="5354092" y="2208824"/>
            <a:ext cx="651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6"/>
          <p:cNvSpPr/>
          <p:nvPr/>
        </p:nvSpPr>
        <p:spPr>
          <a:xfrm>
            <a:off x="5589091" y="2185736"/>
            <a:ext cx="30819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900"/>
              <a:buFont typeface="Arial"/>
              <a:buNone/>
            </a:pPr>
            <a:r>
              <a:rPr b="1" i="0" lang="en" sz="11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User quotas</a:t>
            </a:r>
            <a:r>
              <a:rPr b="0" i="0" lang="en" sz="1100" u="none" cap="none" strike="noStrike">
                <a:solidFill>
                  <a:srgbClr val="495057"/>
                </a:solidFill>
                <a:latin typeface="Arial"/>
                <a:ea typeface="Arial"/>
                <a:cs typeface="Arial"/>
                <a:sym typeface="Arial"/>
              </a:rPr>
              <a:t> - Rate limiting per session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7"/>
          <p:cNvSpPr/>
          <p:nvPr/>
        </p:nvSpPr>
        <p:spPr>
          <a:xfrm>
            <a:off x="0" y="0"/>
            <a:ext cx="9144000" cy="688800"/>
          </a:xfrm>
          <a:prstGeom prst="rect">
            <a:avLst/>
          </a:prstGeom>
          <a:solidFill>
            <a:srgbClr val="0F4C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7"/>
          <p:cNvSpPr/>
          <p:nvPr/>
        </p:nvSpPr>
        <p:spPr>
          <a:xfrm>
            <a:off x="507950" y="177701"/>
            <a:ext cx="82908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Current Scope &amp; Future Roadmap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7"/>
          <p:cNvSpPr/>
          <p:nvPr/>
        </p:nvSpPr>
        <p:spPr>
          <a:xfrm>
            <a:off x="381000" y="866477"/>
            <a:ext cx="3901500" cy="4270500"/>
          </a:xfrm>
          <a:prstGeom prst="roundRect">
            <a:avLst>
              <a:gd fmla="val 1628" name="adj"/>
            </a:avLst>
          </a:prstGeom>
          <a:solidFill>
            <a:srgbClr val="FFFFFF"/>
          </a:solidFill>
          <a:ln cap="flat" cmpd="sng" w="9525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7"/>
          <p:cNvSpPr/>
          <p:nvPr/>
        </p:nvSpPr>
        <p:spPr>
          <a:xfrm>
            <a:off x="593675" y="1053703"/>
            <a:ext cx="3545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rPr>
              <a:t>Demo Scope (Not in Production)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7"/>
          <p:cNvSpPr/>
          <p:nvPr/>
        </p:nvSpPr>
        <p:spPr>
          <a:xfrm>
            <a:off x="593675" y="1406128"/>
            <a:ext cx="861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7"/>
          <p:cNvSpPr/>
          <p:nvPr/>
        </p:nvSpPr>
        <p:spPr>
          <a:xfrm>
            <a:off x="779562" y="1406128"/>
            <a:ext cx="3355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2C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B262C"/>
                </a:solidFill>
                <a:latin typeface="Arial"/>
                <a:ea typeface="Arial"/>
                <a:cs typeface="Arial"/>
                <a:sym typeface="Arial"/>
              </a:rPr>
              <a:t>Limited Date Range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7"/>
          <p:cNvSpPr/>
          <p:nvPr/>
        </p:nvSpPr>
        <p:spPr>
          <a:xfrm>
            <a:off x="779562" y="1587103"/>
            <a:ext cx="33558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rPr>
              <a:t>3 months (Apr-Jun 2022). No YoY analysis capability.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7"/>
          <p:cNvSpPr/>
          <p:nvPr/>
        </p:nvSpPr>
        <p:spPr>
          <a:xfrm>
            <a:off x="593675" y="1862584"/>
            <a:ext cx="861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7"/>
          <p:cNvSpPr/>
          <p:nvPr/>
        </p:nvSpPr>
        <p:spPr>
          <a:xfrm>
            <a:off x="779562" y="1862584"/>
            <a:ext cx="3355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2C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B262C"/>
                </a:solidFill>
                <a:latin typeface="Arial"/>
                <a:ea typeface="Arial"/>
                <a:cs typeface="Arial"/>
                <a:sym typeface="Arial"/>
              </a:rPr>
              <a:t>Single Data Source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7"/>
          <p:cNvSpPr/>
          <p:nvPr/>
        </p:nvSpPr>
        <p:spPr>
          <a:xfrm>
            <a:off x="779562" y="2043559"/>
            <a:ext cx="33558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rPr>
              <a:t>Amazon India only. No multi-channel integration.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7"/>
          <p:cNvSpPr/>
          <p:nvPr/>
        </p:nvSpPr>
        <p:spPr>
          <a:xfrm>
            <a:off x="593675" y="2319040"/>
            <a:ext cx="861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7"/>
          <p:cNvSpPr/>
          <p:nvPr/>
        </p:nvSpPr>
        <p:spPr>
          <a:xfrm>
            <a:off x="779562" y="2319040"/>
            <a:ext cx="3355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2C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B262C"/>
                </a:solidFill>
                <a:latin typeface="Arial"/>
                <a:ea typeface="Arial"/>
                <a:cs typeface="Arial"/>
                <a:sym typeface="Arial"/>
              </a:rPr>
              <a:t>Static Schema in Prompts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7"/>
          <p:cNvSpPr/>
          <p:nvPr/>
        </p:nvSpPr>
        <p:spPr>
          <a:xfrm>
            <a:off x="779562" y="2500015"/>
            <a:ext cx="33558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rPr>
              <a:t>Schema embedded in code. Won't adapt to table changes.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7"/>
          <p:cNvSpPr/>
          <p:nvPr/>
        </p:nvSpPr>
        <p:spPr>
          <a:xfrm>
            <a:off x="593675" y="2775496"/>
            <a:ext cx="861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7"/>
          <p:cNvSpPr/>
          <p:nvPr/>
        </p:nvSpPr>
        <p:spPr>
          <a:xfrm>
            <a:off x="779562" y="2775496"/>
            <a:ext cx="3355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2C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B262C"/>
                </a:solidFill>
                <a:latin typeface="Arial"/>
                <a:ea typeface="Arial"/>
                <a:cs typeface="Arial"/>
                <a:sym typeface="Arial"/>
              </a:rPr>
              <a:t>Session-Only Memory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7"/>
          <p:cNvSpPr/>
          <p:nvPr/>
        </p:nvSpPr>
        <p:spPr>
          <a:xfrm>
            <a:off x="779562" y="2956471"/>
            <a:ext cx="33558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rPr>
              <a:t>No conversation history across sessions.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7"/>
          <p:cNvSpPr/>
          <p:nvPr/>
        </p:nvSpPr>
        <p:spPr>
          <a:xfrm>
            <a:off x="593675" y="3231952"/>
            <a:ext cx="861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7"/>
          <p:cNvSpPr/>
          <p:nvPr/>
        </p:nvSpPr>
        <p:spPr>
          <a:xfrm>
            <a:off x="779562" y="3231952"/>
            <a:ext cx="3355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2C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B262C"/>
                </a:solidFill>
                <a:latin typeface="Arial"/>
                <a:ea typeface="Arial"/>
                <a:cs typeface="Arial"/>
                <a:sym typeface="Arial"/>
              </a:rPr>
              <a:t>No Query Caching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7"/>
          <p:cNvSpPr/>
          <p:nvPr/>
        </p:nvSpPr>
        <p:spPr>
          <a:xfrm>
            <a:off x="779562" y="3412927"/>
            <a:ext cx="33558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rPr>
              <a:t>Repeated queries hit LLM every time (cost inefficiency).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7"/>
          <p:cNvSpPr/>
          <p:nvPr/>
        </p:nvSpPr>
        <p:spPr>
          <a:xfrm>
            <a:off x="4536281" y="866477"/>
            <a:ext cx="4226700" cy="4270500"/>
          </a:xfrm>
          <a:prstGeom prst="roundRect">
            <a:avLst>
              <a:gd fmla="val 1502" name="adj"/>
            </a:avLst>
          </a:prstGeom>
          <a:solidFill>
            <a:srgbClr val="FFFFFF"/>
          </a:solidFill>
          <a:ln cap="flat" cmpd="sng" w="9525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7"/>
          <p:cNvSpPr/>
          <p:nvPr/>
        </p:nvSpPr>
        <p:spPr>
          <a:xfrm>
            <a:off x="4748957" y="1053703"/>
            <a:ext cx="3877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Production Roadmap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7"/>
          <p:cNvSpPr/>
          <p:nvPr/>
        </p:nvSpPr>
        <p:spPr>
          <a:xfrm>
            <a:off x="4748957" y="1406128"/>
            <a:ext cx="106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7"/>
          <p:cNvSpPr/>
          <p:nvPr/>
        </p:nvSpPr>
        <p:spPr>
          <a:xfrm>
            <a:off x="4955084" y="1406128"/>
            <a:ext cx="3666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2C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B262C"/>
                </a:solidFill>
                <a:latin typeface="Arial"/>
                <a:ea typeface="Arial"/>
                <a:cs typeface="Arial"/>
                <a:sym typeface="Arial"/>
              </a:rPr>
              <a:t>Synapse / BigQuery Migration </a:t>
            </a:r>
            <a:r>
              <a:rPr b="1" i="0" lang="en" sz="8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7"/>
          <p:cNvSpPr/>
          <p:nvPr/>
        </p:nvSpPr>
        <p:spPr>
          <a:xfrm>
            <a:off x="4955084" y="1587103"/>
            <a:ext cx="36669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rPr>
              <a:t>Scale to 100GB+ datasets with partitioning and clustering.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7"/>
          <p:cNvSpPr/>
          <p:nvPr/>
        </p:nvSpPr>
        <p:spPr>
          <a:xfrm>
            <a:off x="4748957" y="1862584"/>
            <a:ext cx="106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7"/>
          <p:cNvSpPr/>
          <p:nvPr/>
        </p:nvSpPr>
        <p:spPr>
          <a:xfrm>
            <a:off x="4955084" y="1862584"/>
            <a:ext cx="3666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2C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B262C"/>
                </a:solidFill>
                <a:latin typeface="Arial"/>
                <a:ea typeface="Arial"/>
                <a:cs typeface="Arial"/>
                <a:sym typeface="Arial"/>
              </a:rPr>
              <a:t>Redis Caching Layer </a:t>
            </a:r>
            <a:r>
              <a:rPr b="1" i="0" lang="en" sz="8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7"/>
          <p:cNvSpPr/>
          <p:nvPr/>
        </p:nvSpPr>
        <p:spPr>
          <a:xfrm>
            <a:off x="4955084" y="2043559"/>
            <a:ext cx="36669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rPr>
              <a:t>Query result cache with 1-hour TTL. ~60% cost reduction.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7"/>
          <p:cNvSpPr/>
          <p:nvPr/>
        </p:nvSpPr>
        <p:spPr>
          <a:xfrm>
            <a:off x="4748957" y="2319040"/>
            <a:ext cx="106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7"/>
          <p:cNvSpPr/>
          <p:nvPr/>
        </p:nvSpPr>
        <p:spPr>
          <a:xfrm>
            <a:off x="4955084" y="2319040"/>
            <a:ext cx="3666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2C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B262C"/>
                </a:solidFill>
                <a:latin typeface="Arial"/>
                <a:ea typeface="Arial"/>
                <a:cs typeface="Arial"/>
                <a:sym typeface="Arial"/>
              </a:rPr>
              <a:t>RAG Dynamic Schema Discovery </a:t>
            </a:r>
            <a:r>
              <a:rPr b="1" i="0" lang="en" sz="8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7"/>
          <p:cNvSpPr/>
          <p:nvPr/>
        </p:nvSpPr>
        <p:spPr>
          <a:xfrm>
            <a:off x="4955084" y="2500015"/>
            <a:ext cx="3666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rPr>
              <a:t>Vector DB (Pinecone) for automatic table discovery and schema updates.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7"/>
          <p:cNvSpPr/>
          <p:nvPr/>
        </p:nvSpPr>
        <p:spPr>
          <a:xfrm>
            <a:off x="4748957" y="2924026"/>
            <a:ext cx="106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7"/>
          <p:cNvSpPr/>
          <p:nvPr/>
        </p:nvSpPr>
        <p:spPr>
          <a:xfrm>
            <a:off x="4955084" y="2924026"/>
            <a:ext cx="3666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2C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B262C"/>
                </a:solidFill>
                <a:latin typeface="Arial"/>
                <a:ea typeface="Arial"/>
                <a:cs typeface="Arial"/>
                <a:sym typeface="Arial"/>
              </a:rPr>
              <a:t>Multi-Source Data Integration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7"/>
          <p:cNvSpPr/>
          <p:nvPr/>
        </p:nvSpPr>
        <p:spPr>
          <a:xfrm>
            <a:off x="4955084" y="3105001"/>
            <a:ext cx="36669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rPr>
              <a:t>Support for Shopify, Magento, WooCommerce connectors.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7"/>
          <p:cNvSpPr/>
          <p:nvPr/>
        </p:nvSpPr>
        <p:spPr>
          <a:xfrm>
            <a:off x="4748957" y="3380482"/>
            <a:ext cx="106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7"/>
          <p:cNvSpPr/>
          <p:nvPr/>
        </p:nvSpPr>
        <p:spPr>
          <a:xfrm>
            <a:off x="4955084" y="3380482"/>
            <a:ext cx="3666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2C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B262C"/>
                </a:solidFill>
                <a:latin typeface="Arial"/>
                <a:ea typeface="Arial"/>
                <a:cs typeface="Arial"/>
                <a:sym typeface="Arial"/>
              </a:rPr>
              <a:t>Cross-Session Conversation Memory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7"/>
          <p:cNvSpPr/>
          <p:nvPr/>
        </p:nvSpPr>
        <p:spPr>
          <a:xfrm>
            <a:off x="4955084" y="3561457"/>
            <a:ext cx="36669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rPr>
              <a:t>Persistent conversation history for contextual follow-ups.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7"/>
          <p:cNvSpPr/>
          <p:nvPr/>
        </p:nvSpPr>
        <p:spPr>
          <a:xfrm>
            <a:off x="4748957" y="3836938"/>
            <a:ext cx="106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C49A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7"/>
          <p:cNvSpPr/>
          <p:nvPr/>
        </p:nvSpPr>
        <p:spPr>
          <a:xfrm>
            <a:off x="4955084" y="3836938"/>
            <a:ext cx="3666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2C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B262C"/>
                </a:solidFill>
                <a:latin typeface="Arial"/>
                <a:ea typeface="Arial"/>
                <a:cs typeface="Arial"/>
                <a:sym typeface="Arial"/>
              </a:rPr>
              <a:t>Fine-tune PandasAI for Domain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7"/>
          <p:cNvSpPr/>
          <p:nvPr/>
        </p:nvSpPr>
        <p:spPr>
          <a:xfrm>
            <a:off x="4955084" y="4017913"/>
            <a:ext cx="36669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rPr>
              <a:t>Train on complex query patterns and retail domain knowledge.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4C75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28"/>
          <p:cNvSpPr/>
          <p:nvPr/>
        </p:nvSpPr>
        <p:spPr>
          <a:xfrm>
            <a:off x="0" y="0"/>
            <a:ext cx="9144000" cy="63300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8"/>
          <p:cNvSpPr/>
          <p:nvPr/>
        </p:nvSpPr>
        <p:spPr>
          <a:xfrm>
            <a:off x="507950" y="381000"/>
            <a:ext cx="82908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Summary &amp; Key Takeaways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8"/>
          <p:cNvSpPr/>
          <p:nvPr/>
        </p:nvSpPr>
        <p:spPr>
          <a:xfrm>
            <a:off x="507950" y="962025"/>
            <a:ext cx="3949800" cy="750900"/>
          </a:xfrm>
          <a:prstGeom prst="roundRect">
            <a:avLst>
              <a:gd fmla="val 6764" name="adj"/>
            </a:avLst>
          </a:prstGeom>
          <a:solidFill>
            <a:srgbClr val="FFFFFF">
              <a:alpha val="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6" name="Google Shape;696;p28"/>
          <p:cNvCxnSpPr/>
          <p:nvPr/>
        </p:nvCxnSpPr>
        <p:spPr>
          <a:xfrm>
            <a:off x="527000" y="962025"/>
            <a:ext cx="0" cy="750900"/>
          </a:xfrm>
          <a:prstGeom prst="straightConnector1">
            <a:avLst/>
          </a:prstGeom>
          <a:noFill/>
          <a:ln cap="flat" cmpd="sng" w="381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7" name="Google Shape;697;p28"/>
          <p:cNvSpPr/>
          <p:nvPr/>
        </p:nvSpPr>
        <p:spPr>
          <a:xfrm>
            <a:off x="723751" y="1088975"/>
            <a:ext cx="36273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1000"/>
              <a:buFont typeface="Arial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Multi-Agent Architecture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8"/>
          <p:cNvSpPr/>
          <p:nvPr/>
        </p:nvSpPr>
        <p:spPr>
          <a:xfrm>
            <a:off x="723751" y="1289000"/>
            <a:ext cx="3627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BBE1FA"/>
                </a:solidFill>
                <a:latin typeface="Arial"/>
                <a:ea typeface="Arial"/>
                <a:cs typeface="Arial"/>
                <a:sym typeface="Arial"/>
              </a:rPr>
              <a:t>4 specialized agents: Orchestrator, Query Resolution, Data Extraction, Response Validation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8"/>
          <p:cNvSpPr/>
          <p:nvPr/>
        </p:nvSpPr>
        <p:spPr>
          <a:xfrm>
            <a:off x="507950" y="1839962"/>
            <a:ext cx="3949800" cy="750900"/>
          </a:xfrm>
          <a:prstGeom prst="roundRect">
            <a:avLst>
              <a:gd fmla="val 6764" name="adj"/>
            </a:avLst>
          </a:prstGeom>
          <a:solidFill>
            <a:srgbClr val="FFFFFF">
              <a:alpha val="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0" name="Google Shape;700;p28"/>
          <p:cNvCxnSpPr/>
          <p:nvPr/>
        </p:nvCxnSpPr>
        <p:spPr>
          <a:xfrm>
            <a:off x="527000" y="1839962"/>
            <a:ext cx="0" cy="750900"/>
          </a:xfrm>
          <a:prstGeom prst="straightConnector1">
            <a:avLst/>
          </a:prstGeom>
          <a:noFill/>
          <a:ln cap="flat" cmpd="sng" w="381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1" name="Google Shape;701;p28"/>
          <p:cNvSpPr/>
          <p:nvPr/>
        </p:nvSpPr>
        <p:spPr>
          <a:xfrm>
            <a:off x="723751" y="1966912"/>
            <a:ext cx="36273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1000"/>
              <a:buFont typeface="Arial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Production Security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8"/>
          <p:cNvSpPr/>
          <p:nvPr/>
        </p:nvSpPr>
        <p:spPr>
          <a:xfrm>
            <a:off x="723751" y="2166938"/>
            <a:ext cx="3627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BBE1FA"/>
                </a:solidFill>
                <a:latin typeface="Arial"/>
                <a:ea typeface="Arial"/>
                <a:cs typeface="Arial"/>
                <a:sym typeface="Arial"/>
              </a:rPr>
              <a:t>NeMo Guardrails: pattern matching, topic classification, LLM intent verification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8"/>
          <p:cNvSpPr/>
          <p:nvPr/>
        </p:nvSpPr>
        <p:spPr>
          <a:xfrm>
            <a:off x="507950" y="2717899"/>
            <a:ext cx="3949800" cy="750900"/>
          </a:xfrm>
          <a:prstGeom prst="roundRect">
            <a:avLst>
              <a:gd fmla="val 6764" name="adj"/>
            </a:avLst>
          </a:prstGeom>
          <a:solidFill>
            <a:srgbClr val="FFFFFF">
              <a:alpha val="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4" name="Google Shape;704;p28"/>
          <p:cNvCxnSpPr/>
          <p:nvPr/>
        </p:nvCxnSpPr>
        <p:spPr>
          <a:xfrm>
            <a:off x="527000" y="2717899"/>
            <a:ext cx="0" cy="750900"/>
          </a:xfrm>
          <a:prstGeom prst="straightConnector1">
            <a:avLst/>
          </a:prstGeom>
          <a:noFill/>
          <a:ln cap="flat" cmpd="sng" w="381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5" name="Google Shape;705;p28"/>
          <p:cNvSpPr/>
          <p:nvPr/>
        </p:nvSpPr>
        <p:spPr>
          <a:xfrm>
            <a:off x="723751" y="2844850"/>
            <a:ext cx="36273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1000"/>
              <a:buFont typeface="Arial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Multi-Cloud Scale Design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8"/>
          <p:cNvSpPr/>
          <p:nvPr/>
        </p:nvSpPr>
        <p:spPr>
          <a:xfrm>
            <a:off x="723751" y="3044875"/>
            <a:ext cx="3627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BBE1FA"/>
                </a:solidFill>
                <a:latin typeface="Arial"/>
                <a:ea typeface="Arial"/>
                <a:cs typeface="Arial"/>
                <a:sym typeface="Arial"/>
              </a:rPr>
              <a:t>Azure (Synapse, ADF) + GCP (BigQuery, Dataflow). PySpark with Databricks. Redis caching layer.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8"/>
          <p:cNvSpPr/>
          <p:nvPr/>
        </p:nvSpPr>
        <p:spPr>
          <a:xfrm>
            <a:off x="4686300" y="962025"/>
            <a:ext cx="3949800" cy="750900"/>
          </a:xfrm>
          <a:prstGeom prst="roundRect">
            <a:avLst>
              <a:gd fmla="val 6764" name="adj"/>
            </a:avLst>
          </a:prstGeom>
          <a:solidFill>
            <a:srgbClr val="FFFFFF">
              <a:alpha val="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8" name="Google Shape;708;p28"/>
          <p:cNvCxnSpPr/>
          <p:nvPr/>
        </p:nvCxnSpPr>
        <p:spPr>
          <a:xfrm>
            <a:off x="4705350" y="962025"/>
            <a:ext cx="0" cy="750900"/>
          </a:xfrm>
          <a:prstGeom prst="straightConnector1">
            <a:avLst/>
          </a:prstGeom>
          <a:noFill/>
          <a:ln cap="flat" cmpd="sng" w="381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9" name="Google Shape;709;p28"/>
          <p:cNvSpPr/>
          <p:nvPr/>
        </p:nvSpPr>
        <p:spPr>
          <a:xfrm>
            <a:off x="4902101" y="1088975"/>
            <a:ext cx="36273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1000"/>
              <a:buFont typeface="Arial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Technology Choices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28"/>
          <p:cNvSpPr/>
          <p:nvPr/>
        </p:nvSpPr>
        <p:spPr>
          <a:xfrm>
            <a:off x="4902101" y="1289000"/>
            <a:ext cx="3627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BBE1FA"/>
                </a:solidFill>
                <a:latin typeface="Arial"/>
                <a:ea typeface="Arial"/>
                <a:cs typeface="Arial"/>
                <a:sym typeface="Arial"/>
              </a:rPr>
              <a:t>ADK for agents. DuckDB for demo, Synapse/BigQuery for production. Pinecone for RAG schema discovery.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8"/>
          <p:cNvSpPr/>
          <p:nvPr/>
        </p:nvSpPr>
        <p:spPr>
          <a:xfrm>
            <a:off x="4686300" y="1839962"/>
            <a:ext cx="3949800" cy="750900"/>
          </a:xfrm>
          <a:prstGeom prst="roundRect">
            <a:avLst>
              <a:gd fmla="val 6764" name="adj"/>
            </a:avLst>
          </a:prstGeom>
          <a:solidFill>
            <a:srgbClr val="FFFFFF">
              <a:alpha val="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2" name="Google Shape;712;p28"/>
          <p:cNvCxnSpPr/>
          <p:nvPr/>
        </p:nvCxnSpPr>
        <p:spPr>
          <a:xfrm>
            <a:off x="4705350" y="1839962"/>
            <a:ext cx="0" cy="750900"/>
          </a:xfrm>
          <a:prstGeom prst="straightConnector1">
            <a:avLst/>
          </a:prstGeom>
          <a:noFill/>
          <a:ln cap="flat" cmpd="sng" w="381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3" name="Google Shape;713;p28"/>
          <p:cNvSpPr/>
          <p:nvPr/>
        </p:nvSpPr>
        <p:spPr>
          <a:xfrm>
            <a:off x="4902101" y="1966912"/>
            <a:ext cx="36273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1000"/>
              <a:buFont typeface="Arial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Cost-Conscious Design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8"/>
          <p:cNvSpPr/>
          <p:nvPr/>
        </p:nvSpPr>
        <p:spPr>
          <a:xfrm>
            <a:off x="4902101" y="2166938"/>
            <a:ext cx="3627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BBE1FA"/>
                </a:solidFill>
                <a:latin typeface="Arial"/>
                <a:ea typeface="Arial"/>
                <a:cs typeface="Arial"/>
                <a:sym typeface="Arial"/>
              </a:rPr>
              <a:t>Redis caching (~60% savings), model routing, token limits. Production: ~$200-500/month at 5K queries/day.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8"/>
          <p:cNvSpPr/>
          <p:nvPr/>
        </p:nvSpPr>
        <p:spPr>
          <a:xfrm>
            <a:off x="4686300" y="2717899"/>
            <a:ext cx="3949800" cy="750900"/>
          </a:xfrm>
          <a:prstGeom prst="roundRect">
            <a:avLst>
              <a:gd fmla="val 6764" name="adj"/>
            </a:avLst>
          </a:prstGeom>
          <a:solidFill>
            <a:srgbClr val="FFFFFF">
              <a:alpha val="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6" name="Google Shape;716;p28"/>
          <p:cNvCxnSpPr/>
          <p:nvPr/>
        </p:nvCxnSpPr>
        <p:spPr>
          <a:xfrm>
            <a:off x="4705350" y="2717899"/>
            <a:ext cx="0" cy="750900"/>
          </a:xfrm>
          <a:prstGeom prst="straightConnector1">
            <a:avLst/>
          </a:prstGeom>
          <a:noFill/>
          <a:ln cap="flat" cmpd="sng" w="381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7" name="Google Shape;717;p28"/>
          <p:cNvSpPr/>
          <p:nvPr/>
        </p:nvSpPr>
        <p:spPr>
          <a:xfrm>
            <a:off x="4902101" y="2844850"/>
            <a:ext cx="36273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1000"/>
              <a:buFont typeface="Arial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Observability Strategy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8"/>
          <p:cNvSpPr/>
          <p:nvPr/>
        </p:nvSpPr>
        <p:spPr>
          <a:xfrm>
            <a:off x="4902101" y="3044875"/>
            <a:ext cx="3627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BBE1FA"/>
                </a:solidFill>
                <a:latin typeface="Arial"/>
                <a:ea typeface="Arial"/>
                <a:cs typeface="Arial"/>
                <a:sym typeface="Arial"/>
              </a:rPr>
              <a:t>Track latency, token usage, error rates, SQL generation success. Centralized logging and metric dashboards.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8"/>
          <p:cNvSpPr/>
          <p:nvPr/>
        </p:nvSpPr>
        <p:spPr>
          <a:xfrm>
            <a:off x="507950" y="4389537"/>
            <a:ext cx="979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BBE1FA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